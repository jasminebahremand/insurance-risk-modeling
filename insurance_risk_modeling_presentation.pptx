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Nourd Bold" charset="1" panose="00000800000000000000"/>
      <p:regular r:id="rId20"/>
    </p:embeddedFont>
    <p:embeddedFont>
      <p:font typeface="Source Sans Pro" charset="1" panose="020B0503030403020204"/>
      <p:regular r:id="rId22"/>
    </p:embeddedFont>
    <p:embeddedFont>
      <p:font typeface="Nourd" charset="1" panose="00000500000000000000"/>
      <p:regular r:id="rId24"/>
    </p:embeddedFont>
    <p:embeddedFont>
      <p:font typeface="Source Sans Pro Bold" charset="1" panose="020B0703030403020204"/>
      <p:regular r:id="rId26"/>
    </p:embeddedFont>
    <p:embeddedFont>
      <p:font typeface="Canva Sans Bold" charset="1" panose="020B0803030501040103"/>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fonts/font22.fntdata" Type="http://schemas.openxmlformats.org/officeDocument/2006/relationships/font"/><Relationship Id="rId23" Target="notesSlides/notesSlide3.xml" Type="http://schemas.openxmlformats.org/officeDocument/2006/relationships/notesSlide"/><Relationship Id="rId24" Target="fonts/font24.fntdata" Type="http://schemas.openxmlformats.org/officeDocument/2006/relationships/font"/><Relationship Id="rId25" Target="notesSlides/notesSlide4.xml" Type="http://schemas.openxmlformats.org/officeDocument/2006/relationships/notesSlide"/><Relationship Id="rId26" Target="fonts/font26.fntdata" Type="http://schemas.openxmlformats.org/officeDocument/2006/relationships/font"/><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fonts/font31.fntdata" Type="http://schemas.openxmlformats.org/officeDocument/2006/relationships/font"/><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“Hi, we’re Team 45.</a:t>
            </a:r>
          </a:p>
          <a:p>
            <a:r>
              <a:rPr lang="en-US"/>
              <a:t>Our project focused on using predictive modeling to estimate customer-level insurance risk.</a:t>
            </a:r>
          </a:p>
          <a:p>
            <a:r>
              <a:rPr lang="en-US"/>
              <a:t>Specifically, we built models to predict both loss cost and claim likelihood based on historical policy data.</a:t>
            </a:r>
          </a:p>
          <a:p>
            <a:r>
              <a:rPr lang="en-US"/>
              <a:t>In the next section, we’ll explain why solving this problem is critical for insurers today.”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“Insurance companies face a recurring challenge: setting premiums that accurately reflect individual risk. If pricing is off, the portfolio becomes unbalanced, increasing exposure to loss.</a:t>
            </a:r>
          </a:p>
          <a:p>
            <a:r>
              <a:rPr lang="en-US"/>
              <a:t>Our team built machine learning models to predict two key outcomes: Loss Cost—the expected financial impact of a customer, and Claim Status—the likelihood they’ll file a claim. These predictions support more informed pricing, risk control, and customer-level strategy.</a:t>
            </a:r>
          </a:p>
          <a:p>
            <a:r>
              <a:rPr lang="en-US"/>
              <a:t>These insights don’t just improve pricing accuracy — they enable smarter underwriting, more strategic retention, and better risk-adjusted decision making across the business.”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first task focused on predicting two cost-related outcomes: Loss Cost, or LC, and Historically Adjusted Loss Cost, HALC. LC is calculated as incurred loss divided by exposure units, while HALC adjusts that cost based on historical correction factors.</a:t>
            </a:r>
          </a:p>
          <a:p>
            <a:r>
              <a:rPr lang="en-US"/>
              <a:t/>
            </a:r>
          </a:p>
          <a:p>
            <a:r>
              <a:rPr lang="en-US"/>
              <a:t>One challenge in modeling these targets is that insurance losses are heavily skewed — most customers have zero claims, but a few incur very large losses. This creates a distribution that’s difficult for standard models to handle.</a:t>
            </a:r>
          </a:p>
          <a:p>
            <a:r>
              <a:rPr lang="en-US"/>
              <a:t>To address this, we applied a log transformation to both LC and HALC and, in early testing, also evaluated models that support Tweedie distributions, which are commonly used in insurance for their ability to model zero-inflated, non-negative data.</a:t>
            </a:r>
          </a:p>
          <a:p>
            <a:r>
              <a:rPr lang="en-US"/>
              <a:t/>
            </a:r>
          </a:p>
          <a:p>
            <a:r>
              <a:rPr lang="en-US"/>
              <a:t>As a sanity check, we compared predicted outputs to the training data.</a:t>
            </a:r>
          </a:p>
          <a:p>
            <a:r>
              <a:rPr lang="en-US"/>
              <a:t>In the training set, the mean LC was 629.84, and the predicted mean was 233.25. For HALC, the training mean was 1,156.17, while the predicted mean was 325.79.</a:t>
            </a:r>
          </a:p>
          <a:p>
            <a:r>
              <a:rPr lang="en-US"/>
              <a:t>The predicted values are more conservative, but the spread and trend direction align well, indicating our models captured meaningful structure without overfitting to extreme outliers.”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transforming the data, we evaluated several models for predicting LC and HALC, including GLM with Tweedie loss, Multilayer Perceptron, XGBoost, and LightGBM.</a:t>
            </a:r>
          </a:p>
          <a:p>
            <a:r>
              <a:rPr lang="en-US"/>
              <a:t/>
            </a:r>
          </a:p>
          <a:p>
            <a:r>
              <a:rPr lang="en-US"/>
              <a:t>As shown in the table, LightGBM consistently delivered the strongest results.</a:t>
            </a:r>
          </a:p>
          <a:p>
            <a:r>
              <a:rPr lang="en-US"/>
              <a:t>For HALC, it achieved an R² of 0.7744 with a Mean Absolute Error of 14.14.</a:t>
            </a:r>
          </a:p>
          <a:p>
            <a:r>
              <a:rPr lang="en-US"/>
              <a:t>For LC, it reached an R² of 0.7202 with a MAE of 0.1996.</a:t>
            </a:r>
          </a:p>
          <a:p>
            <a:r>
              <a:rPr lang="en-US"/>
              <a:t>In contrast, XGBoost, for example, had much lower R² values and significantly higher error.</a:t>
            </a:r>
          </a:p>
          <a:p>
            <a:r>
              <a:rPr lang="en-US"/>
              <a:t/>
            </a:r>
          </a:p>
          <a:p>
            <a:r>
              <a:rPr lang="en-US"/>
              <a:t>The bar chart on the slide highlights this clearly — LightGBM achieved the highest R² scores across both targets, meaning it explained the most variance in the loss outcomes.</a:t>
            </a:r>
          </a:p>
          <a:p>
            <a:r>
              <a:rPr lang="en-US"/>
              <a:t/>
            </a:r>
          </a:p>
          <a:p>
            <a:r>
              <a:rPr lang="en-US"/>
              <a:t>Based on this consistent performance, and its particularly strong results on HALC, we selected LightGBM as our final model for generating loss cost predictions.”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our second task, we built a classification model to predict claim status—specifically, whether a customer would file a claim.</a:t>
            </a:r>
          </a:p>
          <a:p>
            <a:r>
              <a:rPr lang="en-US"/>
              <a:t>As shown in the chart on the right, the dataset was heavily imbalanced, with far fewer customers filing claims than not.</a:t>
            </a:r>
          </a:p>
          <a:p>
            <a:r>
              <a:rPr lang="en-US"/>
              <a:t>To account for that, we explored both standard and weighted approaches during modeling.</a:t>
            </a:r>
          </a:p>
          <a:p>
            <a:r>
              <a:rPr lang="en-US"/>
              <a:t/>
            </a:r>
          </a:p>
          <a:p>
            <a:r>
              <a:rPr lang="en-US"/>
              <a:t>We tested seven models, including logistic regression, neural networks, random forest, and gradient boosting.</a:t>
            </a:r>
          </a:p>
          <a:p>
            <a:r>
              <a:rPr lang="en-US"/>
              <a:t>The models were evaluated using ROC-AUC, which measures how well each model separates the two classes.</a:t>
            </a:r>
          </a:p>
          <a:p>
            <a:r>
              <a:rPr lang="en-US"/>
              <a:t/>
            </a:r>
          </a:p>
          <a:p>
            <a:r>
              <a:rPr lang="en-US"/>
              <a:t>Gradient Boosting achieved the highest performance, with a ROC-AUC of 0.7889.</a:t>
            </a:r>
          </a:p>
          <a:p>
            <a:r>
              <a:rPr lang="en-US"/>
              <a:t>We also tested a version that applied sample weights to give more emphasis to the positive class, which scored slightly lower at 0.7833.</a:t>
            </a:r>
          </a:p>
          <a:p>
            <a:r>
              <a:rPr lang="en-US"/>
              <a:t/>
            </a:r>
          </a:p>
          <a:p>
            <a:r>
              <a:rPr lang="en-US"/>
              <a:t>Although the weighted version slightly increased recall, it reduced overall ROC-AUC.</a:t>
            </a:r>
          </a:p>
          <a:p>
            <a:r>
              <a:rPr lang="en-US"/>
              <a:t>Because our goal was to maximize overall model performance, we selected the unweighted Gradient Boosting model for our final claim status predictions.”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selecting the final model, we evaluated its performance using the confusion matrix and classification report.</a:t>
            </a:r>
          </a:p>
          <a:p>
            <a:r>
              <a:rPr lang="en-US"/>
              <a:t/>
            </a:r>
          </a:p>
          <a:p>
            <a:r>
              <a:rPr lang="en-US"/>
              <a:t>The model had a precision of 58 percent for predicting claims. This means that when it flagged a customer as likely to file, it was correct more than half the time.</a:t>
            </a:r>
          </a:p>
          <a:p>
            <a:r>
              <a:rPr lang="en-US"/>
              <a:t>However, the recall was only 6 percent, meaning it identified just a small portion of the actual claimants.</a:t>
            </a:r>
          </a:p>
          <a:p>
            <a:r>
              <a:rPr lang="en-US"/>
              <a:t/>
            </a:r>
          </a:p>
          <a:p>
            <a:r>
              <a:rPr lang="en-US"/>
              <a:t>This trade-off reflects a precision-focused model. While it doesn’t catch every claimant, it does reliably identify a targeted group of higher-risk policyholders.</a:t>
            </a:r>
          </a:p>
          <a:p>
            <a:r>
              <a:rPr lang="en-US"/>
              <a:t/>
            </a:r>
          </a:p>
          <a:p>
            <a:r>
              <a:rPr lang="en-US"/>
              <a:t>In practice, this helps insurers focus attention and resources on reviewing the customers who are most likely to file, without creating unnecessary noise or over-flagging.”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understand what was influencing our models, we looked at the most important features contributing to predictions of loss cost and claim likelihood.</a:t>
            </a:r>
          </a:p>
          <a:p>
            <a:r>
              <a:rPr lang="en-US"/>
              <a:t/>
            </a:r>
          </a:p>
          <a:p>
            <a:r>
              <a:rPr lang="en-US"/>
              <a:t>Several variables consistently stood out.</a:t>
            </a:r>
          </a:p>
          <a:p>
            <a:r>
              <a:rPr lang="en-US"/>
              <a:t>Contract duration -  longer contracts leads to higher loss</a:t>
            </a:r>
          </a:p>
          <a:p>
            <a:r>
              <a:rPr lang="en-US"/>
              <a:t/>
            </a:r>
          </a:p>
          <a:p>
            <a:r>
              <a:rPr lang="en-US"/>
              <a:t>The number of drivers was also important, as more drivers increase overall exposure.</a:t>
            </a:r>
          </a:p>
          <a:p>
            <a:r>
              <a:rPr lang="en-US"/>
              <a:t>and Region type and viechale age. </a:t>
            </a:r>
          </a:p>
          <a:p>
            <a:r>
              <a:rPr lang="en-US"/>
              <a:t/>
            </a:r>
          </a:p>
          <a:p>
            <a:r>
              <a:rPr lang="en-US"/>
              <a:t>and we wanted to further analyze how these risk signals will play out across different customer segments—specifically by tenure and premium tier.”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we segmented customers by insurance tenure, we saw a clear relationship between loyalty and risk.</a:t>
            </a:r>
          </a:p>
          <a:p>
            <a:r>
              <a:rPr lang="en-US"/>
              <a:t/>
            </a:r>
          </a:p>
          <a:p>
            <a:r>
              <a:rPr lang="en-US"/>
              <a:t>for new customers—those with zero years of history—had the highest average HALC,</a:t>
            </a:r>
          </a:p>
          <a:p>
            <a:r>
              <a:rPr lang="en-US"/>
              <a:t>As tenure increased, HALC decreased, for the more loyal customers. </a:t>
            </a:r>
          </a:p>
          <a:p>
            <a:r>
              <a:rPr lang="en-US"/>
              <a:t/>
            </a:r>
          </a:p>
          <a:p>
            <a:r>
              <a:rPr lang="en-US"/>
              <a:t>and then we segmented by net premium tier. and we found out </a:t>
            </a:r>
          </a:p>
          <a:p>
            <a:r>
              <a:rPr lang="en-US"/>
              <a:t>customers in the lowest premium tier had the highest predicted loss cost at 328.20, while those in the highest tier averaged lower.</a:t>
            </a:r>
          </a:p>
          <a:p>
            <a:r>
              <a:rPr lang="en-US"/>
              <a:t/>
            </a:r>
          </a:p>
          <a:p>
            <a:r>
              <a:rPr lang="en-US"/>
              <a:t>with the data, we suggest monitoring new and low-tier customers more closely and carefully.</a:t>
            </a:r>
          </a:p>
          <a:p>
            <a:r>
              <a:rPr lang="en-US"/>
              <a:t>as higher HALC score will result in more risk exposure, and without proper oversight, they will drive up the loss ratios. </a:t>
            </a:r>
          </a:p>
          <a:p>
            <a:r>
              <a:rPr lang="en-US"/>
              <a:t/>
            </a:r>
          </a:p>
          <a:p>
            <a:r>
              <a:rPr lang="en-US"/>
              <a:t>secondly we suggest to Invest more in retaining customers with longer tenure as these customers are not only lower risk but can be potentially more profitable over time, especially if incentivized through loyalty programs,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structured our recommendations around three core strategies: pricing, retention, and risk flagging.</a:t>
            </a:r>
          </a:p>
          <a:p>
            <a:r>
              <a:rPr lang="en-US"/>
              <a:t/>
            </a:r>
          </a:p>
          <a:p>
            <a:r>
              <a:rPr lang="en-US"/>
              <a:t>Under pricing strategy, we recommend charging higher premiums for new or low-tier customers with high predicted HALC.</a:t>
            </a:r>
          </a:p>
          <a:p>
            <a:r>
              <a:rPr lang="en-US"/>
              <a:t>Premium tiers can also be adjusted using predictive drivers like contract duration and number of drivers, both of which were strongly associated with higher risk.</a:t>
            </a:r>
          </a:p>
          <a:p>
            <a:r>
              <a:rPr lang="en-US"/>
              <a:t>In addition, HALC predictions can help flag underpriced policies for review, ensuring pricing reflects true exposure.</a:t>
            </a:r>
          </a:p>
          <a:p>
            <a:r>
              <a:rPr lang="en-US"/>
              <a:t/>
            </a:r>
          </a:p>
          <a:p>
            <a:r>
              <a:rPr lang="en-US"/>
              <a:t>For retention, we suggest incentivizing loyal, low-HALC customers—this group is consistently less risky and more profitable.</a:t>
            </a:r>
          </a:p>
          <a:p>
            <a:r>
              <a:rPr lang="en-US"/>
              <a:t>We also recommend monitoring medium-risk segments for potential churn and targeting them with tailored offers to improve retention and margin.</a:t>
            </a:r>
          </a:p>
          <a:p>
            <a:r>
              <a:rPr lang="en-US"/>
              <a:t/>
            </a:r>
          </a:p>
          <a:p>
            <a:r>
              <a:rPr lang="en-US"/>
              <a:t>And for risk flagging, Claim Status predictions can be used to identify high-risk policyholders before a claim is filed.</a:t>
            </a:r>
          </a:p>
          <a:p>
            <a:r>
              <a:rPr lang="en-US"/>
              <a:t>These customers can be flagged for manual underwriting or restricted coverage, and combining claim probability with HALC can help insurers build a more complete view of customer-level risk.”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close, we built models to predict loss cost and claim likelihood, giving us two distinct views of customer risk.</a:t>
            </a:r>
          </a:p>
          <a:p>
            <a:r>
              <a:rPr lang="en-US"/>
              <a:t/>
            </a:r>
          </a:p>
          <a:p>
            <a:r>
              <a:rPr lang="en-US"/>
              <a:t>We identified the key features driving those predictions and linked them to customer segments and pricing challenges.</a:t>
            </a:r>
          </a:p>
          <a:p>
            <a:r>
              <a:rPr lang="en-US"/>
              <a:t/>
            </a:r>
          </a:p>
          <a:p>
            <a:r>
              <a:rPr lang="en-US"/>
              <a:t>Based on those insights, we outlined strategies across pricing, underwriting, and retention—each directly tied to measurable model outputs.</a:t>
            </a:r>
          </a:p>
          <a:p>
            <a:r>
              <a:rPr lang="en-US"/>
              <a:t/>
            </a:r>
          </a:p>
          <a:p>
            <a:r>
              <a:rPr lang="en-US"/>
              <a:t>Our models performed consistently across test data and are structured for deployment within existing decision workflows, helping insurers make smarter, data-driven decisions across the customer lifecycle.</a:t>
            </a:r>
          </a:p>
          <a:p>
            <a:r>
              <a:rPr lang="en-US"/>
              <a:t/>
            </a:r>
          </a:p>
          <a:p>
            <a:r>
              <a:rPr lang="en-US"/>
              <a:t>That concludes our analysis and recommendations. 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for watching our presentation.”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9.png" Type="http://schemas.openxmlformats.org/officeDocument/2006/relationships/image"/><Relationship Id="rId4"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29.png" Type="http://schemas.openxmlformats.org/officeDocument/2006/relationships/image"/><Relationship Id="rId12" Target="../media/image30.svg" Type="http://schemas.openxmlformats.org/officeDocument/2006/relationships/image"/><Relationship Id="rId2" Target="../notesSlides/notesSlide7.xml" Type="http://schemas.openxmlformats.org/officeDocument/2006/relationships/notesSlid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1.png" Type="http://schemas.openxmlformats.org/officeDocument/2006/relationships/image"/><Relationship Id="rId4" Target="../media/image3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2" Target="../notesSlides/notesSlide9.xml" Type="http://schemas.openxmlformats.org/officeDocument/2006/relationships/notesSlid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svg" Type="http://schemas.openxmlformats.org/officeDocument/2006/relationships/image"/><Relationship Id="rId2" Target="../notesSlides/notesSlide10.xml" Type="http://schemas.openxmlformats.org/officeDocument/2006/relationships/notesSlide"/><Relationship Id="rId3" Target="../media/image41.png" Type="http://schemas.openxmlformats.org/officeDocument/2006/relationships/image"/><Relationship Id="rId4" Target="../media/image42.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4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2" Target="../notesSlides/notesSlide1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82983" y="-1232084"/>
            <a:ext cx="12319780" cy="12319780"/>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Freeform 4" id="4"/>
          <p:cNvSpPr/>
          <p:nvPr/>
        </p:nvSpPr>
        <p:spPr>
          <a:xfrm flipH="false" flipV="false" rot="0">
            <a:off x="8736797" y="1386666"/>
            <a:ext cx="8789941" cy="7680211"/>
          </a:xfrm>
          <a:custGeom>
            <a:avLst/>
            <a:gdLst/>
            <a:ahLst/>
            <a:cxnLst/>
            <a:rect r="r" b="b" t="t" l="l"/>
            <a:pathLst>
              <a:path h="7680211" w="8789941">
                <a:moveTo>
                  <a:pt x="0" y="0"/>
                </a:moveTo>
                <a:lnTo>
                  <a:pt x="8789941" y="0"/>
                </a:lnTo>
                <a:lnTo>
                  <a:pt x="8789941" y="7680211"/>
                </a:lnTo>
                <a:lnTo>
                  <a:pt x="0" y="76802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249033" y="944722"/>
            <a:ext cx="2277705" cy="2277705"/>
          </a:xfrm>
          <a:custGeom>
            <a:avLst/>
            <a:gdLst/>
            <a:ahLst/>
            <a:cxnLst/>
            <a:rect r="r" b="b" t="t" l="l"/>
            <a:pathLst>
              <a:path h="2277705" w="2277705">
                <a:moveTo>
                  <a:pt x="0" y="0"/>
                </a:moveTo>
                <a:lnTo>
                  <a:pt x="2277705" y="0"/>
                </a:lnTo>
                <a:lnTo>
                  <a:pt x="2277705" y="2277705"/>
                </a:lnTo>
                <a:lnTo>
                  <a:pt x="0" y="22777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282076" y="788735"/>
            <a:ext cx="2211618" cy="2433692"/>
          </a:xfrm>
          <a:custGeom>
            <a:avLst/>
            <a:gdLst/>
            <a:ahLst/>
            <a:cxnLst/>
            <a:rect r="r" b="b" t="t" l="l"/>
            <a:pathLst>
              <a:path h="2433692" w="2211618">
                <a:moveTo>
                  <a:pt x="0" y="0"/>
                </a:moveTo>
                <a:lnTo>
                  <a:pt x="2211618" y="0"/>
                </a:lnTo>
                <a:lnTo>
                  <a:pt x="2211618" y="2433692"/>
                </a:lnTo>
                <a:lnTo>
                  <a:pt x="0" y="24336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387885" y="6430189"/>
            <a:ext cx="1667705" cy="2636687"/>
          </a:xfrm>
          <a:custGeom>
            <a:avLst/>
            <a:gdLst/>
            <a:ahLst/>
            <a:cxnLst/>
            <a:rect r="r" b="b" t="t" l="l"/>
            <a:pathLst>
              <a:path h="2636687" w="1667705">
                <a:moveTo>
                  <a:pt x="0" y="0"/>
                </a:moveTo>
                <a:lnTo>
                  <a:pt x="1667705" y="0"/>
                </a:lnTo>
                <a:lnTo>
                  <a:pt x="1667705" y="2636688"/>
                </a:lnTo>
                <a:lnTo>
                  <a:pt x="0" y="26366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238763" y="2119484"/>
            <a:ext cx="6524224" cy="7737475"/>
          </a:xfrm>
          <a:prstGeom prst="rect">
            <a:avLst/>
          </a:prstGeom>
        </p:spPr>
        <p:txBody>
          <a:bodyPr anchor="t" rtlCol="false" tIns="0" lIns="0" bIns="0" rIns="0">
            <a:spAutoFit/>
          </a:bodyPr>
          <a:lstStyle/>
          <a:p>
            <a:pPr algn="l">
              <a:lnSpc>
                <a:spcPts val="7699"/>
              </a:lnSpc>
            </a:pPr>
            <a:r>
              <a:rPr lang="en-US" sz="5499" b="true">
                <a:solidFill>
                  <a:srgbClr val="FFFFFF"/>
                </a:solidFill>
                <a:latin typeface="Nourd Bold"/>
                <a:ea typeface="Nourd Bold"/>
                <a:cs typeface="Nourd Bold"/>
                <a:sym typeface="Nourd Bold"/>
              </a:rPr>
              <a:t>Pre</a:t>
            </a:r>
            <a:r>
              <a:rPr lang="en-US" sz="5499" b="true">
                <a:solidFill>
                  <a:srgbClr val="FFFFFF"/>
                </a:solidFill>
                <a:latin typeface="Nourd Bold"/>
                <a:ea typeface="Nourd Bold"/>
                <a:cs typeface="Nourd Bold"/>
                <a:sym typeface="Nourd Bold"/>
              </a:rPr>
              <a:t>DICTING CLAIMS &amp; LOSSES FOR SMARTER AUTO INSURANCE PRICING</a:t>
            </a:r>
          </a:p>
          <a:p>
            <a:pPr algn="l">
              <a:lnSpc>
                <a:spcPts val="7699"/>
              </a:lnSpc>
            </a:pPr>
          </a:p>
          <a:p>
            <a:pPr algn="l">
              <a:lnSpc>
                <a:spcPts val="7699"/>
              </a:lnSpc>
            </a:pPr>
          </a:p>
        </p:txBody>
      </p:sp>
      <p:sp>
        <p:nvSpPr>
          <p:cNvPr name="TextBox 9" id="9"/>
          <p:cNvSpPr txBox="true"/>
          <p:nvPr/>
        </p:nvSpPr>
        <p:spPr>
          <a:xfrm rot="0">
            <a:off x="1238763" y="8373761"/>
            <a:ext cx="5669150" cy="1740502"/>
          </a:xfrm>
          <a:prstGeom prst="rect">
            <a:avLst/>
          </a:prstGeom>
        </p:spPr>
        <p:txBody>
          <a:bodyPr anchor="t" rtlCol="false" tIns="0" lIns="0" bIns="0" rIns="0">
            <a:spAutoFit/>
          </a:bodyPr>
          <a:lstStyle/>
          <a:p>
            <a:pPr algn="l">
              <a:lnSpc>
                <a:spcPts val="2311"/>
              </a:lnSpc>
            </a:pPr>
            <a:r>
              <a:rPr lang="en-US" sz="1650" b="true">
                <a:solidFill>
                  <a:srgbClr val="FFFFFF"/>
                </a:solidFill>
                <a:latin typeface="Nourd Bold"/>
                <a:ea typeface="Nourd Bold"/>
                <a:cs typeface="Nourd Bold"/>
                <a:sym typeface="Nourd Bold"/>
              </a:rPr>
              <a:t>BAHREMAND, JASMINE</a:t>
            </a:r>
          </a:p>
          <a:p>
            <a:pPr algn="l">
              <a:lnSpc>
                <a:spcPts val="2311"/>
              </a:lnSpc>
            </a:pPr>
            <a:r>
              <a:rPr lang="en-US" sz="1650" b="true">
                <a:solidFill>
                  <a:srgbClr val="FFFFFF"/>
                </a:solidFill>
                <a:latin typeface="Nourd Bold"/>
                <a:ea typeface="Nourd Bold"/>
                <a:cs typeface="Nourd Bold"/>
                <a:sym typeface="Nourd Bold"/>
              </a:rPr>
              <a:t>LEE, HANNAH</a:t>
            </a:r>
          </a:p>
          <a:p>
            <a:pPr algn="l">
              <a:lnSpc>
                <a:spcPts val="2311"/>
              </a:lnSpc>
            </a:pPr>
            <a:r>
              <a:rPr lang="en-US" sz="1650" b="true">
                <a:solidFill>
                  <a:srgbClr val="FFFFFF"/>
                </a:solidFill>
                <a:latin typeface="Nourd Bold"/>
                <a:ea typeface="Nourd Bold"/>
                <a:cs typeface="Nourd Bold"/>
                <a:sym typeface="Nourd Bold"/>
              </a:rPr>
              <a:t>WU, ALAN</a:t>
            </a:r>
          </a:p>
          <a:p>
            <a:pPr algn="l">
              <a:lnSpc>
                <a:spcPts val="2311"/>
              </a:lnSpc>
            </a:pPr>
            <a:r>
              <a:rPr lang="en-US" sz="1650" b="true">
                <a:solidFill>
                  <a:srgbClr val="FFFFFF"/>
                </a:solidFill>
                <a:latin typeface="Nourd Bold"/>
                <a:ea typeface="Nourd Bold"/>
                <a:cs typeface="Nourd Bold"/>
                <a:sym typeface="Nourd Bold"/>
              </a:rPr>
              <a:t>FAN, TIANJUN,</a:t>
            </a:r>
          </a:p>
          <a:p>
            <a:pPr algn="l">
              <a:lnSpc>
                <a:spcPts val="2311"/>
              </a:lnSpc>
            </a:pPr>
            <a:r>
              <a:rPr lang="en-US" b="true" sz="1650">
                <a:solidFill>
                  <a:srgbClr val="FFFFFF"/>
                </a:solidFill>
                <a:latin typeface="Nourd Bold"/>
                <a:ea typeface="Nourd Bold"/>
                <a:cs typeface="Nourd Bold"/>
                <a:sym typeface="Nourd Bold"/>
              </a:rPr>
              <a:t>MCNEW, NICHOLAS</a:t>
            </a:r>
          </a:p>
          <a:p>
            <a:pPr algn="l">
              <a:lnSpc>
                <a:spcPts val="2311"/>
              </a:lnSpc>
            </a:pPr>
          </a:p>
        </p:txBody>
      </p:sp>
      <p:sp>
        <p:nvSpPr>
          <p:cNvPr name="TextBox 10" id="10"/>
          <p:cNvSpPr txBox="true"/>
          <p:nvPr/>
        </p:nvSpPr>
        <p:spPr>
          <a:xfrm rot="0">
            <a:off x="1899606" y="1569993"/>
            <a:ext cx="3684187" cy="356235"/>
          </a:xfrm>
          <a:prstGeom prst="rect">
            <a:avLst/>
          </a:prstGeom>
        </p:spPr>
        <p:txBody>
          <a:bodyPr anchor="t" rtlCol="false" tIns="0" lIns="0" bIns="0" rIns="0">
            <a:spAutoFit/>
          </a:bodyPr>
          <a:lstStyle/>
          <a:p>
            <a:pPr algn="l">
              <a:lnSpc>
                <a:spcPts val="2940"/>
              </a:lnSpc>
            </a:pPr>
            <a:r>
              <a:rPr lang="en-US" sz="2100" b="true">
                <a:solidFill>
                  <a:srgbClr val="FFFFFF"/>
                </a:solidFill>
                <a:latin typeface="Nourd Bold"/>
                <a:ea typeface="Nourd Bold"/>
                <a:cs typeface="Nourd Bold"/>
                <a:sym typeface="Nourd Bold"/>
              </a:rPr>
              <a:t>TEAM #45</a:t>
            </a:r>
          </a:p>
        </p:txBody>
      </p:sp>
      <p:sp>
        <p:nvSpPr>
          <p:cNvPr name="Freeform 11" id="11"/>
          <p:cNvSpPr/>
          <p:nvPr/>
        </p:nvSpPr>
        <p:spPr>
          <a:xfrm flipH="false" flipV="false" rot="0">
            <a:off x="1238763" y="1541557"/>
            <a:ext cx="491212" cy="491212"/>
          </a:xfrm>
          <a:custGeom>
            <a:avLst/>
            <a:gdLst/>
            <a:ahLst/>
            <a:cxnLst/>
            <a:rect r="r" b="b" t="t" l="l"/>
            <a:pathLst>
              <a:path h="491212" w="491212">
                <a:moveTo>
                  <a:pt x="0" y="0"/>
                </a:moveTo>
                <a:lnTo>
                  <a:pt x="491212" y="0"/>
                </a:lnTo>
                <a:lnTo>
                  <a:pt x="491212" y="491212"/>
                </a:lnTo>
                <a:lnTo>
                  <a:pt x="0" y="49121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51359" y="5910778"/>
            <a:ext cx="8656445" cy="3771750"/>
          </a:xfrm>
          <a:prstGeom prst="rect">
            <a:avLst/>
          </a:prstGeom>
        </p:spPr>
        <p:txBody>
          <a:bodyPr anchor="t" rtlCol="false" tIns="0" lIns="0" bIns="0" rIns="0">
            <a:spAutoFit/>
          </a:bodyPr>
          <a:lstStyle/>
          <a:p>
            <a:pPr algn="l">
              <a:lnSpc>
                <a:spcPts val="3360"/>
              </a:lnSpc>
            </a:pPr>
            <a:r>
              <a:rPr lang="en-US" b="true" sz="2400" strike="noStrike" u="none">
                <a:solidFill>
                  <a:srgbClr val="F15846"/>
                </a:solidFill>
                <a:latin typeface="Nourd Bold"/>
                <a:ea typeface="Nourd Bold"/>
                <a:cs typeface="Nourd Bold"/>
                <a:sym typeface="Nourd Bold"/>
              </a:rPr>
              <a:t>ACCURATE RISK PREDICTION ENABLES</a:t>
            </a:r>
          </a:p>
          <a:p>
            <a:pPr algn="l" marL="518191" indent="-259095" lvl="1">
              <a:lnSpc>
                <a:spcPts val="3360"/>
              </a:lnSpc>
              <a:buFont typeface="Arial"/>
              <a:buChar char="•"/>
            </a:pPr>
            <a:r>
              <a:rPr lang="en-US" sz="2400" strike="noStrike" u="none">
                <a:solidFill>
                  <a:srgbClr val="000000"/>
                </a:solidFill>
                <a:latin typeface="Source Sans Pro"/>
                <a:ea typeface="Source Sans Pro"/>
                <a:cs typeface="Source Sans Pro"/>
                <a:sym typeface="Source Sans Pro"/>
              </a:rPr>
              <a:t>Smarter premium pricing</a:t>
            </a:r>
          </a:p>
          <a:p>
            <a:pPr algn="l" marL="518191" indent="-259095" lvl="1">
              <a:lnSpc>
                <a:spcPts val="3360"/>
              </a:lnSpc>
              <a:buFont typeface="Arial"/>
              <a:buChar char="•"/>
            </a:pPr>
            <a:r>
              <a:rPr lang="en-US" sz="2400" strike="noStrike" u="none">
                <a:solidFill>
                  <a:srgbClr val="000000"/>
                </a:solidFill>
                <a:latin typeface="Source Sans Pro"/>
                <a:ea typeface="Source Sans Pro"/>
                <a:cs typeface="Source Sans Pro"/>
                <a:sym typeface="Source Sans Pro"/>
              </a:rPr>
              <a:t>Targeted retention and underwriting strategies</a:t>
            </a:r>
          </a:p>
          <a:p>
            <a:pPr algn="l">
              <a:lnSpc>
                <a:spcPts val="3360"/>
              </a:lnSpc>
            </a:pPr>
            <a:r>
              <a:rPr lang="en-US" b="true" sz="2400" strike="noStrike" u="none">
                <a:solidFill>
                  <a:srgbClr val="F15846"/>
                </a:solidFill>
                <a:latin typeface="Nourd Bold"/>
                <a:ea typeface="Nourd Bold"/>
                <a:cs typeface="Nourd Bold"/>
                <a:sym typeface="Nourd Bold"/>
              </a:rPr>
              <a:t>KEY CHALLENGES</a:t>
            </a:r>
          </a:p>
          <a:p>
            <a:pPr algn="l" marL="518191" indent="-259095" lvl="1">
              <a:lnSpc>
                <a:spcPts val="3360"/>
              </a:lnSpc>
              <a:buFont typeface="Arial"/>
              <a:buChar char="•"/>
            </a:pPr>
            <a:r>
              <a:rPr lang="en-US" sz="2400" strike="noStrike" u="none">
                <a:solidFill>
                  <a:srgbClr val="000000"/>
                </a:solidFill>
                <a:latin typeface="Source Sans Pro"/>
                <a:ea typeface="Source Sans Pro"/>
                <a:cs typeface="Source Sans Pro"/>
                <a:sym typeface="Source Sans Pro"/>
              </a:rPr>
              <a:t>Identifying customers likely to file claims</a:t>
            </a:r>
          </a:p>
          <a:p>
            <a:pPr algn="l" marL="518191" indent="-259095" lvl="1">
              <a:lnSpc>
                <a:spcPts val="3360"/>
              </a:lnSpc>
              <a:buFont typeface="Arial"/>
              <a:buChar char="•"/>
            </a:pPr>
            <a:r>
              <a:rPr lang="en-US" sz="2400" strike="noStrike" u="none">
                <a:solidFill>
                  <a:srgbClr val="000000"/>
                </a:solidFill>
                <a:latin typeface="Source Sans Pro"/>
                <a:ea typeface="Source Sans Pro"/>
                <a:cs typeface="Source Sans Pro"/>
                <a:sym typeface="Source Sans Pro"/>
              </a:rPr>
              <a:t>Estimating financial loss from new policyholders</a:t>
            </a:r>
          </a:p>
          <a:p>
            <a:pPr algn="l">
              <a:lnSpc>
                <a:spcPts val="3360"/>
              </a:lnSpc>
            </a:pPr>
            <a:r>
              <a:rPr lang="en-US" b="true" sz="2400" strike="noStrike" u="none">
                <a:solidFill>
                  <a:srgbClr val="F15846"/>
                </a:solidFill>
                <a:latin typeface="Nourd Bold"/>
                <a:ea typeface="Nourd Bold"/>
                <a:cs typeface="Nourd Bold"/>
                <a:sym typeface="Nourd Bold"/>
              </a:rPr>
              <a:t>OUR PROJECT MODELS BOTH</a:t>
            </a:r>
          </a:p>
          <a:p>
            <a:pPr algn="l" marL="518191" indent="-259095" lvl="1">
              <a:lnSpc>
                <a:spcPts val="3360"/>
              </a:lnSpc>
              <a:buFont typeface="Arial"/>
              <a:buChar char="•"/>
            </a:pPr>
            <a:r>
              <a:rPr lang="en-US" sz="2400" strike="noStrike" u="none">
                <a:solidFill>
                  <a:srgbClr val="000000"/>
                </a:solidFill>
                <a:latin typeface="Source Sans Pro"/>
                <a:ea typeface="Source Sans Pro"/>
                <a:cs typeface="Source Sans Pro"/>
                <a:sym typeface="Source Sans Pro"/>
              </a:rPr>
              <a:t>Loss Cost (LC &amp; HALC) — how costly a policyholder might be</a:t>
            </a:r>
          </a:p>
          <a:p>
            <a:pPr algn="l" marL="518191" indent="-259095" lvl="1">
              <a:lnSpc>
                <a:spcPts val="3360"/>
              </a:lnSpc>
              <a:buFont typeface="Arial"/>
              <a:buChar char="•"/>
            </a:pPr>
            <a:r>
              <a:rPr lang="en-US" sz="2400" strike="noStrike" u="none">
                <a:solidFill>
                  <a:srgbClr val="000000"/>
                </a:solidFill>
                <a:latin typeface="Source Sans Pro"/>
                <a:ea typeface="Source Sans Pro"/>
                <a:cs typeface="Source Sans Pro"/>
                <a:sym typeface="Source Sans Pro"/>
              </a:rPr>
              <a:t>Claim Status (CS) — whether they’re likely to file</a:t>
            </a:r>
            <a:r>
              <a:rPr lang="en-US" sz="2400" strike="noStrike" u="none">
                <a:solidFill>
                  <a:srgbClr val="000000"/>
                </a:solidFill>
                <a:latin typeface="Source Sans Pro"/>
                <a:ea typeface="Source Sans Pro"/>
                <a:cs typeface="Source Sans Pro"/>
                <a:sym typeface="Source Sans Pro"/>
              </a:rPr>
              <a:t> a claim</a:t>
            </a:r>
          </a:p>
        </p:txBody>
      </p:sp>
      <p:grpSp>
        <p:nvGrpSpPr>
          <p:cNvPr name="Group 3" id="3"/>
          <p:cNvGrpSpPr/>
          <p:nvPr/>
        </p:nvGrpSpPr>
        <p:grpSpPr>
          <a:xfrm rot="0">
            <a:off x="9144000" y="-1562744"/>
            <a:ext cx="14248811" cy="14248811"/>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TextBox 5" id="5"/>
          <p:cNvSpPr txBox="true"/>
          <p:nvPr/>
        </p:nvSpPr>
        <p:spPr>
          <a:xfrm rot="0">
            <a:off x="733657" y="962025"/>
            <a:ext cx="8410343" cy="629920"/>
          </a:xfrm>
          <a:prstGeom prst="rect">
            <a:avLst/>
          </a:prstGeom>
        </p:spPr>
        <p:txBody>
          <a:bodyPr anchor="t" rtlCol="false" tIns="0" lIns="0" bIns="0" rIns="0">
            <a:spAutoFit/>
          </a:bodyPr>
          <a:lstStyle/>
          <a:p>
            <a:pPr algn="l" marL="0" indent="0" lvl="0">
              <a:lnSpc>
                <a:spcPts val="5179"/>
              </a:lnSpc>
              <a:spcBef>
                <a:spcPct val="0"/>
              </a:spcBef>
            </a:pPr>
            <a:r>
              <a:rPr lang="en-US" b="true" sz="3699" strike="noStrike" u="none">
                <a:solidFill>
                  <a:srgbClr val="000000"/>
                </a:solidFill>
                <a:latin typeface="Nourd Bold"/>
                <a:ea typeface="Nourd Bold"/>
                <a:cs typeface="Nourd Bold"/>
                <a:sym typeface="Nourd Bold"/>
              </a:rPr>
              <a:t>WHY PREDICT INSURANCE RISK?</a:t>
            </a:r>
          </a:p>
        </p:txBody>
      </p:sp>
      <p:grpSp>
        <p:nvGrpSpPr>
          <p:cNvPr name="Group 6" id="6"/>
          <p:cNvGrpSpPr/>
          <p:nvPr/>
        </p:nvGrpSpPr>
        <p:grpSpPr>
          <a:xfrm rot="0">
            <a:off x="11661149" y="1028700"/>
            <a:ext cx="5958441" cy="8245407"/>
            <a:chOff x="0" y="0"/>
            <a:chExt cx="7944588" cy="10993876"/>
          </a:xfrm>
        </p:grpSpPr>
        <p:grpSp>
          <p:nvGrpSpPr>
            <p:cNvPr name="Group 7" id="7"/>
            <p:cNvGrpSpPr/>
            <p:nvPr/>
          </p:nvGrpSpPr>
          <p:grpSpPr>
            <a:xfrm rot="5400000">
              <a:off x="3615825" y="5613159"/>
              <a:ext cx="712939" cy="516725"/>
              <a:chOff x="0" y="0"/>
              <a:chExt cx="986617" cy="715082"/>
            </a:xfrm>
          </p:grpSpPr>
          <p:sp>
            <p:nvSpPr>
              <p:cNvPr name="Freeform 8" id="8"/>
              <p:cNvSpPr/>
              <p:nvPr/>
            </p:nvSpPr>
            <p:spPr>
              <a:xfrm flipH="false" flipV="false" rot="0">
                <a:off x="0" y="0"/>
                <a:ext cx="986617" cy="715082"/>
              </a:xfrm>
              <a:custGeom>
                <a:avLst/>
                <a:gdLst/>
                <a:ahLst/>
                <a:cxnLst/>
                <a:rect r="r" b="b" t="t" l="l"/>
                <a:pathLst>
                  <a:path h="715082" w="986617">
                    <a:moveTo>
                      <a:pt x="986617" y="357541"/>
                    </a:moveTo>
                    <a:lnTo>
                      <a:pt x="580217" y="0"/>
                    </a:lnTo>
                    <a:lnTo>
                      <a:pt x="580217" y="203200"/>
                    </a:lnTo>
                    <a:lnTo>
                      <a:pt x="0" y="203200"/>
                    </a:lnTo>
                    <a:lnTo>
                      <a:pt x="0" y="511882"/>
                    </a:lnTo>
                    <a:lnTo>
                      <a:pt x="580217" y="511882"/>
                    </a:lnTo>
                    <a:lnTo>
                      <a:pt x="580217" y="715082"/>
                    </a:lnTo>
                    <a:lnTo>
                      <a:pt x="986617" y="357541"/>
                    </a:lnTo>
                    <a:close/>
                  </a:path>
                </a:pathLst>
              </a:custGeom>
              <a:solidFill>
                <a:srgbClr val="FFFFFF"/>
              </a:solidFill>
            </p:spPr>
          </p:sp>
          <p:sp>
            <p:nvSpPr>
              <p:cNvPr name="TextBox 9" id="9"/>
              <p:cNvSpPr txBox="true"/>
              <p:nvPr/>
            </p:nvSpPr>
            <p:spPr>
              <a:xfrm>
                <a:off x="0" y="155575"/>
                <a:ext cx="885017" cy="356307"/>
              </a:xfrm>
              <a:prstGeom prst="rect">
                <a:avLst/>
              </a:prstGeom>
            </p:spPr>
            <p:txBody>
              <a:bodyPr anchor="ctr" rtlCol="false" tIns="48796" lIns="48796" bIns="48796" rIns="48796"/>
              <a:lstStyle/>
              <a:p>
                <a:pPr algn="ctr">
                  <a:lnSpc>
                    <a:spcPts val="3640"/>
                  </a:lnSpc>
                </a:pPr>
              </a:p>
            </p:txBody>
          </p:sp>
        </p:grpSp>
        <p:grpSp>
          <p:nvGrpSpPr>
            <p:cNvPr name="Group 10" id="10"/>
            <p:cNvGrpSpPr/>
            <p:nvPr/>
          </p:nvGrpSpPr>
          <p:grpSpPr>
            <a:xfrm rot="0">
              <a:off x="126564" y="1280612"/>
              <a:ext cx="7691460" cy="1761954"/>
              <a:chOff x="0" y="0"/>
              <a:chExt cx="2044339" cy="468316"/>
            </a:xfrm>
          </p:grpSpPr>
          <p:sp>
            <p:nvSpPr>
              <p:cNvPr name="Freeform 11" id="11"/>
              <p:cNvSpPr/>
              <p:nvPr/>
            </p:nvSpPr>
            <p:spPr>
              <a:xfrm flipH="false" flipV="false" rot="0">
                <a:off x="0" y="0"/>
                <a:ext cx="2044339" cy="468316"/>
              </a:xfrm>
              <a:custGeom>
                <a:avLst/>
                <a:gdLst/>
                <a:ahLst/>
                <a:cxnLst/>
                <a:rect r="r" b="b" t="t" l="l"/>
                <a:pathLst>
                  <a:path h="468316" w="2044339">
                    <a:moveTo>
                      <a:pt x="68446" y="0"/>
                    </a:moveTo>
                    <a:lnTo>
                      <a:pt x="1975893" y="0"/>
                    </a:lnTo>
                    <a:cubicBezTo>
                      <a:pt x="2013695" y="0"/>
                      <a:pt x="2044339" y="30644"/>
                      <a:pt x="2044339" y="68446"/>
                    </a:cubicBezTo>
                    <a:lnTo>
                      <a:pt x="2044339" y="399870"/>
                    </a:lnTo>
                    <a:cubicBezTo>
                      <a:pt x="2044339" y="418023"/>
                      <a:pt x="2037128" y="435432"/>
                      <a:pt x="2024292" y="448268"/>
                    </a:cubicBezTo>
                    <a:cubicBezTo>
                      <a:pt x="2011456" y="461105"/>
                      <a:pt x="1994046" y="468316"/>
                      <a:pt x="1975893" y="468316"/>
                    </a:cubicBezTo>
                    <a:lnTo>
                      <a:pt x="68446" y="468316"/>
                    </a:lnTo>
                    <a:cubicBezTo>
                      <a:pt x="50293" y="468316"/>
                      <a:pt x="32884" y="461105"/>
                      <a:pt x="20047" y="448268"/>
                    </a:cubicBezTo>
                    <a:cubicBezTo>
                      <a:pt x="7211" y="435432"/>
                      <a:pt x="0" y="418023"/>
                      <a:pt x="0" y="399870"/>
                    </a:cubicBezTo>
                    <a:lnTo>
                      <a:pt x="0" y="68446"/>
                    </a:lnTo>
                    <a:cubicBezTo>
                      <a:pt x="0" y="50293"/>
                      <a:pt x="7211" y="32884"/>
                      <a:pt x="20047" y="20047"/>
                    </a:cubicBezTo>
                    <a:cubicBezTo>
                      <a:pt x="32884" y="7211"/>
                      <a:pt x="50293" y="0"/>
                      <a:pt x="68446" y="0"/>
                    </a:cubicBezTo>
                    <a:close/>
                  </a:path>
                </a:pathLst>
              </a:custGeom>
              <a:solidFill>
                <a:srgbClr val="FFFFFF"/>
              </a:solidFill>
              <a:ln w="38100" cap="rnd">
                <a:solidFill>
                  <a:srgbClr val="000000"/>
                </a:solidFill>
                <a:prstDash val="solid"/>
                <a:round/>
              </a:ln>
            </p:spPr>
          </p:sp>
          <p:sp>
            <p:nvSpPr>
              <p:cNvPr name="TextBox 12" id="12"/>
              <p:cNvSpPr txBox="true"/>
              <p:nvPr/>
            </p:nvSpPr>
            <p:spPr>
              <a:xfrm>
                <a:off x="0" y="-47625"/>
                <a:ext cx="2044339" cy="515941"/>
              </a:xfrm>
              <a:prstGeom prst="rect">
                <a:avLst/>
              </a:prstGeom>
            </p:spPr>
            <p:txBody>
              <a:bodyPr anchor="ctr" rtlCol="false" tIns="48796" lIns="48796" bIns="48796" rIns="48796"/>
              <a:lstStyle/>
              <a:p>
                <a:pPr algn="ctr">
                  <a:lnSpc>
                    <a:spcPts val="3640"/>
                  </a:lnSpc>
                </a:pPr>
              </a:p>
            </p:txBody>
          </p:sp>
        </p:grpSp>
        <p:grpSp>
          <p:nvGrpSpPr>
            <p:cNvPr name="Group 13" id="13"/>
            <p:cNvGrpSpPr/>
            <p:nvPr/>
          </p:nvGrpSpPr>
          <p:grpSpPr>
            <a:xfrm rot="5400000">
              <a:off x="3661504" y="1940593"/>
              <a:ext cx="621581" cy="450510"/>
              <a:chOff x="0" y="0"/>
              <a:chExt cx="986617" cy="715082"/>
            </a:xfrm>
          </p:grpSpPr>
          <p:sp>
            <p:nvSpPr>
              <p:cNvPr name="Freeform 14" id="14"/>
              <p:cNvSpPr/>
              <p:nvPr/>
            </p:nvSpPr>
            <p:spPr>
              <a:xfrm flipH="false" flipV="false" rot="0">
                <a:off x="0" y="0"/>
                <a:ext cx="986617" cy="715082"/>
              </a:xfrm>
              <a:custGeom>
                <a:avLst/>
                <a:gdLst/>
                <a:ahLst/>
                <a:cxnLst/>
                <a:rect r="r" b="b" t="t" l="l"/>
                <a:pathLst>
                  <a:path h="715082" w="986617">
                    <a:moveTo>
                      <a:pt x="986617" y="357541"/>
                    </a:moveTo>
                    <a:lnTo>
                      <a:pt x="580217" y="0"/>
                    </a:lnTo>
                    <a:lnTo>
                      <a:pt x="580217" y="203200"/>
                    </a:lnTo>
                    <a:lnTo>
                      <a:pt x="0" y="203200"/>
                    </a:lnTo>
                    <a:lnTo>
                      <a:pt x="0" y="511882"/>
                    </a:lnTo>
                    <a:lnTo>
                      <a:pt x="580217" y="511882"/>
                    </a:lnTo>
                    <a:lnTo>
                      <a:pt x="580217" y="715082"/>
                    </a:lnTo>
                    <a:lnTo>
                      <a:pt x="986617" y="357541"/>
                    </a:lnTo>
                    <a:close/>
                  </a:path>
                </a:pathLst>
              </a:custGeom>
              <a:solidFill>
                <a:srgbClr val="FFFFFF"/>
              </a:solidFill>
            </p:spPr>
          </p:sp>
          <p:sp>
            <p:nvSpPr>
              <p:cNvPr name="TextBox 15" id="15"/>
              <p:cNvSpPr txBox="true"/>
              <p:nvPr/>
            </p:nvSpPr>
            <p:spPr>
              <a:xfrm>
                <a:off x="0" y="155575"/>
                <a:ext cx="885017" cy="356307"/>
              </a:xfrm>
              <a:prstGeom prst="rect">
                <a:avLst/>
              </a:prstGeom>
            </p:spPr>
            <p:txBody>
              <a:bodyPr anchor="ctr" rtlCol="false" tIns="48796" lIns="48796" bIns="48796" rIns="48796"/>
              <a:lstStyle/>
              <a:p>
                <a:pPr algn="ctr">
                  <a:lnSpc>
                    <a:spcPts val="3640"/>
                  </a:lnSpc>
                </a:pPr>
              </a:p>
            </p:txBody>
          </p:sp>
        </p:grpSp>
        <p:sp>
          <p:nvSpPr>
            <p:cNvPr name="TextBox 16" id="16"/>
            <p:cNvSpPr txBox="true"/>
            <p:nvPr/>
          </p:nvSpPr>
          <p:spPr>
            <a:xfrm rot="0">
              <a:off x="126564" y="1419375"/>
              <a:ext cx="7691460" cy="1427280"/>
            </a:xfrm>
            <a:prstGeom prst="rect">
              <a:avLst/>
            </a:prstGeom>
          </p:spPr>
          <p:txBody>
            <a:bodyPr anchor="t" rtlCol="false" tIns="0" lIns="0" bIns="0" rIns="0">
              <a:spAutoFit/>
            </a:bodyPr>
            <a:lstStyle/>
            <a:p>
              <a:pPr algn="ctr" marL="0" indent="0" lvl="0">
                <a:lnSpc>
                  <a:spcPts val="3210"/>
                </a:lnSpc>
                <a:spcBef>
                  <a:spcPct val="0"/>
                </a:spcBef>
              </a:pPr>
              <a:r>
                <a:rPr lang="en-US" b="true" sz="2293" strike="noStrike" u="none">
                  <a:solidFill>
                    <a:srgbClr val="000000"/>
                  </a:solidFill>
                  <a:latin typeface="Nourd Bold"/>
                  <a:ea typeface="Nourd Bold"/>
                  <a:cs typeface="Nourd Bold"/>
                  <a:sym typeface="Nourd Bold"/>
                </a:rPr>
                <a:t>CUSTOMER DATA </a:t>
              </a:r>
            </a:p>
            <a:p>
              <a:pPr algn="ctr" marL="0" indent="0" lvl="0">
                <a:lnSpc>
                  <a:spcPts val="2293"/>
                </a:lnSpc>
              </a:pPr>
              <a:r>
                <a:rPr lang="en-US" sz="2293" strike="noStrike" u="none">
                  <a:solidFill>
                    <a:srgbClr val="000000"/>
                  </a:solidFill>
                  <a:latin typeface="Source Sans Pro"/>
                  <a:ea typeface="Source Sans Pro"/>
                  <a:cs typeface="Source Sans Pro"/>
                  <a:sym typeface="Source Sans Pro"/>
                </a:rPr>
                <a:t>Demographics, policy history</a:t>
              </a:r>
              <a:r>
                <a:rPr lang="en-US" sz="2293" strike="noStrike" u="none">
                  <a:solidFill>
                    <a:srgbClr val="000000"/>
                  </a:solidFill>
                  <a:latin typeface="Source Sans Pro"/>
                  <a:ea typeface="Source Sans Pro"/>
                  <a:cs typeface="Source Sans Pro"/>
                  <a:sym typeface="Source Sans Pro"/>
                </a:rPr>
                <a:t>,</a:t>
              </a:r>
            </a:p>
            <a:p>
              <a:pPr algn="ctr" marL="0" indent="0" lvl="0">
                <a:lnSpc>
                  <a:spcPts val="3210"/>
                </a:lnSpc>
                <a:spcBef>
                  <a:spcPct val="0"/>
                </a:spcBef>
              </a:pPr>
              <a:r>
                <a:rPr lang="en-US" sz="2293" strike="noStrike" u="none">
                  <a:solidFill>
                    <a:srgbClr val="000000"/>
                  </a:solidFill>
                  <a:latin typeface="Source Sans Pro"/>
                  <a:ea typeface="Source Sans Pro"/>
                  <a:cs typeface="Source Sans Pro"/>
                  <a:sym typeface="Source Sans Pro"/>
                </a:rPr>
                <a:t> vehicle info</a:t>
              </a:r>
            </a:p>
          </p:txBody>
        </p:sp>
        <p:grpSp>
          <p:nvGrpSpPr>
            <p:cNvPr name="Group 17" id="17"/>
            <p:cNvGrpSpPr/>
            <p:nvPr/>
          </p:nvGrpSpPr>
          <p:grpSpPr>
            <a:xfrm rot="0">
              <a:off x="126564" y="3776952"/>
              <a:ext cx="7691460" cy="1770823"/>
              <a:chOff x="0" y="0"/>
              <a:chExt cx="2044339" cy="470673"/>
            </a:xfrm>
          </p:grpSpPr>
          <p:sp>
            <p:nvSpPr>
              <p:cNvPr name="Freeform 18" id="18"/>
              <p:cNvSpPr/>
              <p:nvPr/>
            </p:nvSpPr>
            <p:spPr>
              <a:xfrm flipH="false" flipV="false" rot="0">
                <a:off x="0" y="0"/>
                <a:ext cx="2044339" cy="470673"/>
              </a:xfrm>
              <a:custGeom>
                <a:avLst/>
                <a:gdLst/>
                <a:ahLst/>
                <a:cxnLst/>
                <a:rect r="r" b="b" t="t" l="l"/>
                <a:pathLst>
                  <a:path h="470673" w="2044339">
                    <a:moveTo>
                      <a:pt x="68446" y="0"/>
                    </a:moveTo>
                    <a:lnTo>
                      <a:pt x="1975893" y="0"/>
                    </a:lnTo>
                    <a:cubicBezTo>
                      <a:pt x="2013695" y="0"/>
                      <a:pt x="2044339" y="30644"/>
                      <a:pt x="2044339" y="68446"/>
                    </a:cubicBezTo>
                    <a:lnTo>
                      <a:pt x="2044339" y="402227"/>
                    </a:lnTo>
                    <a:cubicBezTo>
                      <a:pt x="2044339" y="420380"/>
                      <a:pt x="2037128" y="437789"/>
                      <a:pt x="2024292" y="450626"/>
                    </a:cubicBezTo>
                    <a:cubicBezTo>
                      <a:pt x="2011456" y="463462"/>
                      <a:pt x="1994046" y="470673"/>
                      <a:pt x="1975893" y="470673"/>
                    </a:cubicBezTo>
                    <a:lnTo>
                      <a:pt x="68446" y="470673"/>
                    </a:lnTo>
                    <a:cubicBezTo>
                      <a:pt x="50293" y="470673"/>
                      <a:pt x="32884" y="463462"/>
                      <a:pt x="20047" y="450626"/>
                    </a:cubicBezTo>
                    <a:cubicBezTo>
                      <a:pt x="7211" y="437789"/>
                      <a:pt x="0" y="420380"/>
                      <a:pt x="0" y="402227"/>
                    </a:cubicBezTo>
                    <a:lnTo>
                      <a:pt x="0" y="68446"/>
                    </a:lnTo>
                    <a:cubicBezTo>
                      <a:pt x="0" y="50293"/>
                      <a:pt x="7211" y="32884"/>
                      <a:pt x="20047" y="20047"/>
                    </a:cubicBezTo>
                    <a:cubicBezTo>
                      <a:pt x="32884" y="7211"/>
                      <a:pt x="50293" y="0"/>
                      <a:pt x="68446" y="0"/>
                    </a:cubicBezTo>
                    <a:close/>
                  </a:path>
                </a:pathLst>
              </a:custGeom>
              <a:solidFill>
                <a:srgbClr val="FFFFFF"/>
              </a:solidFill>
              <a:ln w="38100" cap="rnd">
                <a:solidFill>
                  <a:srgbClr val="000000"/>
                </a:solidFill>
                <a:prstDash val="solid"/>
                <a:round/>
              </a:ln>
            </p:spPr>
          </p:sp>
          <p:sp>
            <p:nvSpPr>
              <p:cNvPr name="TextBox 19" id="19"/>
              <p:cNvSpPr txBox="true"/>
              <p:nvPr/>
            </p:nvSpPr>
            <p:spPr>
              <a:xfrm>
                <a:off x="0" y="-47625"/>
                <a:ext cx="2044339" cy="518298"/>
              </a:xfrm>
              <a:prstGeom prst="rect">
                <a:avLst/>
              </a:prstGeom>
            </p:spPr>
            <p:txBody>
              <a:bodyPr anchor="ctr" rtlCol="false" tIns="48796" lIns="48796" bIns="48796" rIns="48796"/>
              <a:lstStyle/>
              <a:p>
                <a:pPr algn="ctr">
                  <a:lnSpc>
                    <a:spcPts val="3640"/>
                  </a:lnSpc>
                </a:pPr>
              </a:p>
            </p:txBody>
          </p:sp>
        </p:grpSp>
        <p:sp>
          <p:nvSpPr>
            <p:cNvPr name="TextBox 20" id="20"/>
            <p:cNvSpPr txBox="true"/>
            <p:nvPr/>
          </p:nvSpPr>
          <p:spPr>
            <a:xfrm rot="0">
              <a:off x="127878" y="4090128"/>
              <a:ext cx="7688831" cy="1182570"/>
            </a:xfrm>
            <a:prstGeom prst="rect">
              <a:avLst/>
            </a:prstGeom>
          </p:spPr>
          <p:txBody>
            <a:bodyPr anchor="t" rtlCol="false" tIns="0" lIns="0" bIns="0" rIns="0">
              <a:spAutoFit/>
            </a:bodyPr>
            <a:lstStyle/>
            <a:p>
              <a:pPr algn="ctr" marL="0" indent="0" lvl="0">
                <a:lnSpc>
                  <a:spcPts val="2293"/>
                </a:lnSpc>
              </a:pPr>
              <a:r>
                <a:rPr lang="en-US" b="true" sz="2293" strike="noStrike" u="none">
                  <a:solidFill>
                    <a:srgbClr val="000000"/>
                  </a:solidFill>
                  <a:latin typeface="Nourd Bold"/>
                  <a:ea typeface="Nourd Bold"/>
                  <a:cs typeface="Nourd Bold"/>
                  <a:sym typeface="Nourd Bold"/>
                </a:rPr>
                <a:t>MODELS </a:t>
              </a:r>
            </a:p>
            <a:p>
              <a:pPr algn="ctr" marL="0" indent="0" lvl="0">
                <a:lnSpc>
                  <a:spcPts val="2293"/>
                </a:lnSpc>
              </a:pPr>
              <a:r>
                <a:rPr lang="en-US" sz="2293" strike="noStrike" u="none">
                  <a:solidFill>
                    <a:srgbClr val="000000"/>
                  </a:solidFill>
                  <a:latin typeface="Source Sans Pro"/>
                  <a:ea typeface="Source Sans Pro"/>
                  <a:cs typeface="Source Sans Pro"/>
                  <a:sym typeface="Source Sans Pro"/>
                </a:rPr>
                <a:t>Predict LC, HALC (regression) + </a:t>
              </a:r>
            </a:p>
            <a:p>
              <a:pPr algn="ctr" marL="0" indent="0" lvl="0">
                <a:lnSpc>
                  <a:spcPts val="2293"/>
                </a:lnSpc>
              </a:pPr>
              <a:r>
                <a:rPr lang="en-US" sz="2293" strike="noStrike" u="none">
                  <a:solidFill>
                    <a:srgbClr val="000000"/>
                  </a:solidFill>
                  <a:latin typeface="Source Sans Pro"/>
                  <a:ea typeface="Source Sans Pro"/>
                  <a:cs typeface="Source Sans Pro"/>
                  <a:sym typeface="Source Sans Pro"/>
                </a:rPr>
                <a:t>CS (classification)</a:t>
              </a:r>
            </a:p>
          </p:txBody>
        </p:sp>
        <p:grpSp>
          <p:nvGrpSpPr>
            <p:cNvPr name="Group 21" id="21"/>
            <p:cNvGrpSpPr/>
            <p:nvPr/>
          </p:nvGrpSpPr>
          <p:grpSpPr>
            <a:xfrm rot="0">
              <a:off x="126564" y="6273292"/>
              <a:ext cx="7691460" cy="2151706"/>
              <a:chOff x="0" y="0"/>
              <a:chExt cx="2044339" cy="571909"/>
            </a:xfrm>
          </p:grpSpPr>
          <p:sp>
            <p:nvSpPr>
              <p:cNvPr name="Freeform 22" id="22"/>
              <p:cNvSpPr/>
              <p:nvPr/>
            </p:nvSpPr>
            <p:spPr>
              <a:xfrm flipH="false" flipV="false" rot="0">
                <a:off x="0" y="0"/>
                <a:ext cx="2044339" cy="571909"/>
              </a:xfrm>
              <a:custGeom>
                <a:avLst/>
                <a:gdLst/>
                <a:ahLst/>
                <a:cxnLst/>
                <a:rect r="r" b="b" t="t" l="l"/>
                <a:pathLst>
                  <a:path h="571909" w="2044339">
                    <a:moveTo>
                      <a:pt x="68446" y="0"/>
                    </a:moveTo>
                    <a:lnTo>
                      <a:pt x="1975893" y="0"/>
                    </a:lnTo>
                    <a:cubicBezTo>
                      <a:pt x="2013695" y="0"/>
                      <a:pt x="2044339" y="30644"/>
                      <a:pt x="2044339" y="68446"/>
                    </a:cubicBezTo>
                    <a:lnTo>
                      <a:pt x="2044339" y="503463"/>
                    </a:lnTo>
                    <a:cubicBezTo>
                      <a:pt x="2044339" y="521616"/>
                      <a:pt x="2037128" y="539026"/>
                      <a:pt x="2024292" y="551862"/>
                    </a:cubicBezTo>
                    <a:cubicBezTo>
                      <a:pt x="2011456" y="564698"/>
                      <a:pt x="1994046" y="571909"/>
                      <a:pt x="1975893" y="571909"/>
                    </a:cubicBezTo>
                    <a:lnTo>
                      <a:pt x="68446" y="571909"/>
                    </a:lnTo>
                    <a:cubicBezTo>
                      <a:pt x="30644" y="571909"/>
                      <a:pt x="0" y="541265"/>
                      <a:pt x="0" y="503463"/>
                    </a:cubicBezTo>
                    <a:lnTo>
                      <a:pt x="0" y="68446"/>
                    </a:lnTo>
                    <a:cubicBezTo>
                      <a:pt x="0" y="50293"/>
                      <a:pt x="7211" y="32884"/>
                      <a:pt x="20047" y="20047"/>
                    </a:cubicBezTo>
                    <a:cubicBezTo>
                      <a:pt x="32884" y="7211"/>
                      <a:pt x="50293" y="0"/>
                      <a:pt x="68446" y="0"/>
                    </a:cubicBezTo>
                    <a:close/>
                  </a:path>
                </a:pathLst>
              </a:custGeom>
              <a:solidFill>
                <a:srgbClr val="FFFFFF"/>
              </a:solidFill>
              <a:ln w="38100" cap="rnd">
                <a:solidFill>
                  <a:srgbClr val="000000"/>
                </a:solidFill>
                <a:prstDash val="solid"/>
                <a:round/>
              </a:ln>
            </p:spPr>
          </p:sp>
          <p:sp>
            <p:nvSpPr>
              <p:cNvPr name="TextBox 23" id="23"/>
              <p:cNvSpPr txBox="true"/>
              <p:nvPr/>
            </p:nvSpPr>
            <p:spPr>
              <a:xfrm>
                <a:off x="0" y="-47625"/>
                <a:ext cx="2044339" cy="619534"/>
              </a:xfrm>
              <a:prstGeom prst="rect">
                <a:avLst/>
              </a:prstGeom>
            </p:spPr>
            <p:txBody>
              <a:bodyPr anchor="ctr" rtlCol="false" tIns="48796" lIns="48796" bIns="48796" rIns="48796"/>
              <a:lstStyle/>
              <a:p>
                <a:pPr algn="ctr">
                  <a:lnSpc>
                    <a:spcPts val="3640"/>
                  </a:lnSpc>
                </a:pPr>
              </a:p>
            </p:txBody>
          </p:sp>
        </p:grpSp>
        <p:sp>
          <p:nvSpPr>
            <p:cNvPr name="TextBox 24" id="24"/>
            <p:cNvSpPr txBox="true"/>
            <p:nvPr/>
          </p:nvSpPr>
          <p:spPr>
            <a:xfrm rot="0">
              <a:off x="127878" y="6776910"/>
              <a:ext cx="7688831" cy="1182570"/>
            </a:xfrm>
            <a:prstGeom prst="rect">
              <a:avLst/>
            </a:prstGeom>
          </p:spPr>
          <p:txBody>
            <a:bodyPr anchor="t" rtlCol="false" tIns="0" lIns="0" bIns="0" rIns="0">
              <a:spAutoFit/>
            </a:bodyPr>
            <a:lstStyle/>
            <a:p>
              <a:pPr algn="ctr" marL="0" indent="0" lvl="0">
                <a:lnSpc>
                  <a:spcPts val="2293"/>
                </a:lnSpc>
              </a:pPr>
              <a:r>
                <a:rPr lang="en-US" b="true" sz="2293" strike="noStrike" u="none">
                  <a:solidFill>
                    <a:srgbClr val="000000"/>
                  </a:solidFill>
                  <a:latin typeface="Nourd Bold"/>
                  <a:ea typeface="Nourd Bold"/>
                  <a:cs typeface="Nourd Bold"/>
                  <a:sym typeface="Nourd Bold"/>
                </a:rPr>
                <a:t>PREDICTED RISK METRICS </a:t>
              </a:r>
            </a:p>
            <a:p>
              <a:pPr algn="ctr" marL="0" indent="0" lvl="0">
                <a:lnSpc>
                  <a:spcPts val="2293"/>
                </a:lnSpc>
              </a:pPr>
              <a:r>
                <a:rPr lang="en-US" sz="2293" strike="noStrike" u="none">
                  <a:solidFill>
                    <a:srgbClr val="000000"/>
                  </a:solidFill>
                  <a:latin typeface="Source Sans Pro"/>
                  <a:ea typeface="Source Sans Pro"/>
                  <a:cs typeface="Source Sans Pro"/>
                  <a:sym typeface="Source Sans Pro"/>
                </a:rPr>
                <a:t>Expected loss, </a:t>
              </a:r>
            </a:p>
            <a:p>
              <a:pPr algn="ctr" marL="0" indent="0" lvl="0">
                <a:lnSpc>
                  <a:spcPts val="2293"/>
                </a:lnSpc>
              </a:pPr>
              <a:r>
                <a:rPr lang="en-US" sz="2293" strike="noStrike" u="none">
                  <a:solidFill>
                    <a:srgbClr val="000000"/>
                  </a:solidFill>
                  <a:latin typeface="Source Sans Pro"/>
                  <a:ea typeface="Source Sans Pro"/>
                  <a:cs typeface="Source Sans Pro"/>
                  <a:sym typeface="Source Sans Pro"/>
                </a:rPr>
                <a:t>claim probability</a:t>
              </a:r>
            </a:p>
          </p:txBody>
        </p:sp>
        <p:grpSp>
          <p:nvGrpSpPr>
            <p:cNvPr name="Group 25" id="25"/>
            <p:cNvGrpSpPr/>
            <p:nvPr/>
          </p:nvGrpSpPr>
          <p:grpSpPr>
            <a:xfrm rot="0">
              <a:off x="126564" y="9223053"/>
              <a:ext cx="7691460" cy="1770823"/>
              <a:chOff x="0" y="0"/>
              <a:chExt cx="2044339" cy="470673"/>
            </a:xfrm>
          </p:grpSpPr>
          <p:sp>
            <p:nvSpPr>
              <p:cNvPr name="Freeform 26" id="26"/>
              <p:cNvSpPr/>
              <p:nvPr/>
            </p:nvSpPr>
            <p:spPr>
              <a:xfrm flipH="false" flipV="false" rot="0">
                <a:off x="0" y="0"/>
                <a:ext cx="2044339" cy="470673"/>
              </a:xfrm>
              <a:custGeom>
                <a:avLst/>
                <a:gdLst/>
                <a:ahLst/>
                <a:cxnLst/>
                <a:rect r="r" b="b" t="t" l="l"/>
                <a:pathLst>
                  <a:path h="470673" w="2044339">
                    <a:moveTo>
                      <a:pt x="68446" y="0"/>
                    </a:moveTo>
                    <a:lnTo>
                      <a:pt x="1975893" y="0"/>
                    </a:lnTo>
                    <a:cubicBezTo>
                      <a:pt x="2013695" y="0"/>
                      <a:pt x="2044339" y="30644"/>
                      <a:pt x="2044339" y="68446"/>
                    </a:cubicBezTo>
                    <a:lnTo>
                      <a:pt x="2044339" y="402227"/>
                    </a:lnTo>
                    <a:cubicBezTo>
                      <a:pt x="2044339" y="420380"/>
                      <a:pt x="2037128" y="437789"/>
                      <a:pt x="2024292" y="450626"/>
                    </a:cubicBezTo>
                    <a:cubicBezTo>
                      <a:pt x="2011456" y="463462"/>
                      <a:pt x="1994046" y="470673"/>
                      <a:pt x="1975893" y="470673"/>
                    </a:cubicBezTo>
                    <a:lnTo>
                      <a:pt x="68446" y="470673"/>
                    </a:lnTo>
                    <a:cubicBezTo>
                      <a:pt x="50293" y="470673"/>
                      <a:pt x="32884" y="463462"/>
                      <a:pt x="20047" y="450626"/>
                    </a:cubicBezTo>
                    <a:cubicBezTo>
                      <a:pt x="7211" y="437789"/>
                      <a:pt x="0" y="420380"/>
                      <a:pt x="0" y="402227"/>
                    </a:cubicBezTo>
                    <a:lnTo>
                      <a:pt x="0" y="68446"/>
                    </a:lnTo>
                    <a:cubicBezTo>
                      <a:pt x="0" y="50293"/>
                      <a:pt x="7211" y="32884"/>
                      <a:pt x="20047" y="20047"/>
                    </a:cubicBezTo>
                    <a:cubicBezTo>
                      <a:pt x="32884" y="7211"/>
                      <a:pt x="50293" y="0"/>
                      <a:pt x="68446" y="0"/>
                    </a:cubicBezTo>
                    <a:close/>
                  </a:path>
                </a:pathLst>
              </a:custGeom>
              <a:solidFill>
                <a:srgbClr val="FFFFFF"/>
              </a:solidFill>
              <a:ln w="38100" cap="rnd">
                <a:solidFill>
                  <a:srgbClr val="000000"/>
                </a:solidFill>
                <a:prstDash val="solid"/>
                <a:round/>
              </a:ln>
            </p:spPr>
          </p:sp>
          <p:sp>
            <p:nvSpPr>
              <p:cNvPr name="TextBox 27" id="27"/>
              <p:cNvSpPr txBox="true"/>
              <p:nvPr/>
            </p:nvSpPr>
            <p:spPr>
              <a:xfrm>
                <a:off x="0" y="-47625"/>
                <a:ext cx="2044339" cy="518298"/>
              </a:xfrm>
              <a:prstGeom prst="rect">
                <a:avLst/>
              </a:prstGeom>
            </p:spPr>
            <p:txBody>
              <a:bodyPr anchor="ctr" rtlCol="false" tIns="48796" lIns="48796" bIns="48796" rIns="48796"/>
              <a:lstStyle/>
              <a:p>
                <a:pPr algn="ctr">
                  <a:lnSpc>
                    <a:spcPts val="3640"/>
                  </a:lnSpc>
                </a:pPr>
              </a:p>
            </p:txBody>
          </p:sp>
        </p:grpSp>
        <p:sp>
          <p:nvSpPr>
            <p:cNvPr name="TextBox 28" id="28"/>
            <p:cNvSpPr txBox="true"/>
            <p:nvPr/>
          </p:nvSpPr>
          <p:spPr>
            <a:xfrm rot="0">
              <a:off x="126564" y="9536229"/>
              <a:ext cx="7691460" cy="1182570"/>
            </a:xfrm>
            <a:prstGeom prst="rect">
              <a:avLst/>
            </a:prstGeom>
          </p:spPr>
          <p:txBody>
            <a:bodyPr anchor="t" rtlCol="false" tIns="0" lIns="0" bIns="0" rIns="0">
              <a:spAutoFit/>
            </a:bodyPr>
            <a:lstStyle/>
            <a:p>
              <a:pPr algn="ctr" marL="0" indent="0" lvl="0">
                <a:lnSpc>
                  <a:spcPts val="2293"/>
                </a:lnSpc>
              </a:pPr>
              <a:r>
                <a:rPr lang="en-US" b="true" sz="2293" strike="noStrike" u="none">
                  <a:solidFill>
                    <a:srgbClr val="000000"/>
                  </a:solidFill>
                  <a:latin typeface="Nourd Bold"/>
                  <a:ea typeface="Nourd Bold"/>
                  <a:cs typeface="Nourd Bold"/>
                  <a:sym typeface="Nourd Bold"/>
                </a:rPr>
                <a:t>BUSINESS ACTIONS </a:t>
              </a:r>
            </a:p>
            <a:p>
              <a:pPr algn="ctr" marL="0" indent="0" lvl="0">
                <a:lnSpc>
                  <a:spcPts val="2293"/>
                </a:lnSpc>
              </a:pPr>
              <a:r>
                <a:rPr lang="en-US" sz="2293" strike="noStrike" u="none">
                  <a:solidFill>
                    <a:srgbClr val="000000"/>
                  </a:solidFill>
                  <a:latin typeface="Source Sans Pro"/>
                  <a:ea typeface="Source Sans Pro"/>
                  <a:cs typeface="Source Sans Pro"/>
                  <a:sym typeface="Source Sans Pro"/>
                </a:rPr>
                <a:t>Price premiums, flag risks, </a:t>
              </a:r>
            </a:p>
            <a:p>
              <a:pPr algn="ctr" marL="0" indent="0" lvl="0">
                <a:lnSpc>
                  <a:spcPts val="2293"/>
                </a:lnSpc>
              </a:pPr>
              <a:r>
                <a:rPr lang="en-US" sz="2293" strike="noStrike" u="none">
                  <a:solidFill>
                    <a:srgbClr val="000000"/>
                  </a:solidFill>
                  <a:latin typeface="Source Sans Pro"/>
                  <a:ea typeface="Source Sans Pro"/>
                  <a:cs typeface="Source Sans Pro"/>
                  <a:sym typeface="Source Sans Pro"/>
                </a:rPr>
                <a:t>retain low-HALC customers</a:t>
              </a:r>
            </a:p>
          </p:txBody>
        </p:sp>
        <p:sp>
          <p:nvSpPr>
            <p:cNvPr name="TextBox 29" id="29"/>
            <p:cNvSpPr txBox="true"/>
            <p:nvPr/>
          </p:nvSpPr>
          <p:spPr>
            <a:xfrm rot="0">
              <a:off x="0" y="-47625"/>
              <a:ext cx="7944588" cy="1014569"/>
            </a:xfrm>
            <a:prstGeom prst="rect">
              <a:avLst/>
            </a:prstGeom>
          </p:spPr>
          <p:txBody>
            <a:bodyPr anchor="t" rtlCol="false" tIns="0" lIns="0" bIns="0" rIns="0">
              <a:spAutoFit/>
            </a:bodyPr>
            <a:lstStyle/>
            <a:p>
              <a:pPr algn="ctr">
                <a:lnSpc>
                  <a:spcPts val="3077"/>
                </a:lnSpc>
              </a:pPr>
              <a:r>
                <a:rPr lang="en-US" b="true" sz="2198">
                  <a:solidFill>
                    <a:srgbClr val="FFFFFF"/>
                  </a:solidFill>
                  <a:latin typeface="Nourd Bold"/>
                  <a:ea typeface="Nourd Bold"/>
                  <a:cs typeface="Nourd Bold"/>
                  <a:sym typeface="Nourd Bold"/>
                </a:rPr>
                <a:t>FROM DATA TO STRATEGY: </a:t>
              </a:r>
            </a:p>
            <a:p>
              <a:pPr algn="ctr">
                <a:lnSpc>
                  <a:spcPts val="3077"/>
                </a:lnSpc>
              </a:pPr>
              <a:r>
                <a:rPr lang="en-US" b="true" sz="2198">
                  <a:solidFill>
                    <a:srgbClr val="FFFFFF"/>
                  </a:solidFill>
                  <a:latin typeface="Nourd Bold"/>
                  <a:ea typeface="Nourd Bold"/>
                  <a:cs typeface="Nourd Bold"/>
                  <a:sym typeface="Nourd Bold"/>
                </a:rPr>
                <a:t>THE RISK PREDICTION PIPELINE</a:t>
              </a:r>
            </a:p>
          </p:txBody>
        </p:sp>
        <p:grpSp>
          <p:nvGrpSpPr>
            <p:cNvPr name="Group 30" id="30"/>
            <p:cNvGrpSpPr/>
            <p:nvPr/>
          </p:nvGrpSpPr>
          <p:grpSpPr>
            <a:xfrm rot="5400000">
              <a:off x="3615825" y="3136720"/>
              <a:ext cx="712939" cy="516725"/>
              <a:chOff x="0" y="0"/>
              <a:chExt cx="986617" cy="715082"/>
            </a:xfrm>
          </p:grpSpPr>
          <p:sp>
            <p:nvSpPr>
              <p:cNvPr name="Freeform 31" id="31"/>
              <p:cNvSpPr/>
              <p:nvPr/>
            </p:nvSpPr>
            <p:spPr>
              <a:xfrm flipH="false" flipV="false" rot="0">
                <a:off x="0" y="0"/>
                <a:ext cx="986617" cy="715082"/>
              </a:xfrm>
              <a:custGeom>
                <a:avLst/>
                <a:gdLst/>
                <a:ahLst/>
                <a:cxnLst/>
                <a:rect r="r" b="b" t="t" l="l"/>
                <a:pathLst>
                  <a:path h="715082" w="986617">
                    <a:moveTo>
                      <a:pt x="986617" y="357541"/>
                    </a:moveTo>
                    <a:lnTo>
                      <a:pt x="580217" y="0"/>
                    </a:lnTo>
                    <a:lnTo>
                      <a:pt x="580217" y="203200"/>
                    </a:lnTo>
                    <a:lnTo>
                      <a:pt x="0" y="203200"/>
                    </a:lnTo>
                    <a:lnTo>
                      <a:pt x="0" y="511882"/>
                    </a:lnTo>
                    <a:lnTo>
                      <a:pt x="580217" y="511882"/>
                    </a:lnTo>
                    <a:lnTo>
                      <a:pt x="580217" y="715082"/>
                    </a:lnTo>
                    <a:lnTo>
                      <a:pt x="986617" y="357541"/>
                    </a:lnTo>
                    <a:close/>
                  </a:path>
                </a:pathLst>
              </a:custGeom>
              <a:solidFill>
                <a:srgbClr val="F15846"/>
              </a:solidFill>
            </p:spPr>
          </p:sp>
          <p:sp>
            <p:nvSpPr>
              <p:cNvPr name="TextBox 32" id="32"/>
              <p:cNvSpPr txBox="true"/>
              <p:nvPr/>
            </p:nvSpPr>
            <p:spPr>
              <a:xfrm>
                <a:off x="0" y="155575"/>
                <a:ext cx="885017" cy="356307"/>
              </a:xfrm>
              <a:prstGeom prst="rect">
                <a:avLst/>
              </a:prstGeom>
            </p:spPr>
            <p:txBody>
              <a:bodyPr anchor="ctr" rtlCol="false" tIns="48796" lIns="48796" bIns="48796" rIns="48796"/>
              <a:lstStyle/>
              <a:p>
                <a:pPr algn="ctr">
                  <a:lnSpc>
                    <a:spcPts val="3640"/>
                  </a:lnSpc>
                </a:pPr>
              </a:p>
            </p:txBody>
          </p:sp>
        </p:grpSp>
        <p:grpSp>
          <p:nvGrpSpPr>
            <p:cNvPr name="Group 33" id="33"/>
            <p:cNvGrpSpPr/>
            <p:nvPr/>
          </p:nvGrpSpPr>
          <p:grpSpPr>
            <a:xfrm rot="5400000">
              <a:off x="3615825" y="3149191"/>
              <a:ext cx="712939" cy="516725"/>
              <a:chOff x="0" y="0"/>
              <a:chExt cx="986617" cy="715082"/>
            </a:xfrm>
          </p:grpSpPr>
          <p:sp>
            <p:nvSpPr>
              <p:cNvPr name="Freeform 34" id="34"/>
              <p:cNvSpPr/>
              <p:nvPr/>
            </p:nvSpPr>
            <p:spPr>
              <a:xfrm flipH="false" flipV="false" rot="0">
                <a:off x="0" y="0"/>
                <a:ext cx="986617" cy="715082"/>
              </a:xfrm>
              <a:custGeom>
                <a:avLst/>
                <a:gdLst/>
                <a:ahLst/>
                <a:cxnLst/>
                <a:rect r="r" b="b" t="t" l="l"/>
                <a:pathLst>
                  <a:path h="715082" w="986617">
                    <a:moveTo>
                      <a:pt x="986617" y="357541"/>
                    </a:moveTo>
                    <a:lnTo>
                      <a:pt x="580217" y="0"/>
                    </a:lnTo>
                    <a:lnTo>
                      <a:pt x="580217" y="203200"/>
                    </a:lnTo>
                    <a:lnTo>
                      <a:pt x="0" y="203200"/>
                    </a:lnTo>
                    <a:lnTo>
                      <a:pt x="0" y="511882"/>
                    </a:lnTo>
                    <a:lnTo>
                      <a:pt x="580217" y="511882"/>
                    </a:lnTo>
                    <a:lnTo>
                      <a:pt x="580217" y="715082"/>
                    </a:lnTo>
                    <a:lnTo>
                      <a:pt x="986617" y="357541"/>
                    </a:lnTo>
                    <a:close/>
                  </a:path>
                </a:pathLst>
              </a:custGeom>
              <a:solidFill>
                <a:srgbClr val="FFFFFF"/>
              </a:solidFill>
            </p:spPr>
          </p:sp>
          <p:sp>
            <p:nvSpPr>
              <p:cNvPr name="TextBox 35" id="35"/>
              <p:cNvSpPr txBox="true"/>
              <p:nvPr/>
            </p:nvSpPr>
            <p:spPr>
              <a:xfrm>
                <a:off x="0" y="155575"/>
                <a:ext cx="885017" cy="356307"/>
              </a:xfrm>
              <a:prstGeom prst="rect">
                <a:avLst/>
              </a:prstGeom>
            </p:spPr>
            <p:txBody>
              <a:bodyPr anchor="ctr" rtlCol="false" tIns="48796" lIns="48796" bIns="48796" rIns="48796"/>
              <a:lstStyle/>
              <a:p>
                <a:pPr algn="ctr">
                  <a:lnSpc>
                    <a:spcPts val="3640"/>
                  </a:lnSpc>
                </a:pPr>
              </a:p>
            </p:txBody>
          </p:sp>
        </p:grpSp>
        <p:grpSp>
          <p:nvGrpSpPr>
            <p:cNvPr name="Group 36" id="36"/>
            <p:cNvGrpSpPr/>
            <p:nvPr/>
          </p:nvGrpSpPr>
          <p:grpSpPr>
            <a:xfrm rot="5400000">
              <a:off x="3615825" y="8523105"/>
              <a:ext cx="712939" cy="516725"/>
              <a:chOff x="0" y="0"/>
              <a:chExt cx="986617" cy="715082"/>
            </a:xfrm>
          </p:grpSpPr>
          <p:sp>
            <p:nvSpPr>
              <p:cNvPr name="Freeform 37" id="37"/>
              <p:cNvSpPr/>
              <p:nvPr/>
            </p:nvSpPr>
            <p:spPr>
              <a:xfrm flipH="false" flipV="false" rot="0">
                <a:off x="0" y="0"/>
                <a:ext cx="986617" cy="715082"/>
              </a:xfrm>
              <a:custGeom>
                <a:avLst/>
                <a:gdLst/>
                <a:ahLst/>
                <a:cxnLst/>
                <a:rect r="r" b="b" t="t" l="l"/>
                <a:pathLst>
                  <a:path h="715082" w="986617">
                    <a:moveTo>
                      <a:pt x="986617" y="357541"/>
                    </a:moveTo>
                    <a:lnTo>
                      <a:pt x="580217" y="0"/>
                    </a:lnTo>
                    <a:lnTo>
                      <a:pt x="580217" y="203200"/>
                    </a:lnTo>
                    <a:lnTo>
                      <a:pt x="0" y="203200"/>
                    </a:lnTo>
                    <a:lnTo>
                      <a:pt x="0" y="511882"/>
                    </a:lnTo>
                    <a:lnTo>
                      <a:pt x="580217" y="511882"/>
                    </a:lnTo>
                    <a:lnTo>
                      <a:pt x="580217" y="715082"/>
                    </a:lnTo>
                    <a:lnTo>
                      <a:pt x="986617" y="357541"/>
                    </a:lnTo>
                    <a:close/>
                  </a:path>
                </a:pathLst>
              </a:custGeom>
              <a:solidFill>
                <a:srgbClr val="FFFFFF"/>
              </a:solidFill>
            </p:spPr>
          </p:sp>
          <p:sp>
            <p:nvSpPr>
              <p:cNvPr name="TextBox 38" id="38"/>
              <p:cNvSpPr txBox="true"/>
              <p:nvPr/>
            </p:nvSpPr>
            <p:spPr>
              <a:xfrm>
                <a:off x="0" y="155575"/>
                <a:ext cx="885017" cy="356307"/>
              </a:xfrm>
              <a:prstGeom prst="rect">
                <a:avLst/>
              </a:prstGeom>
            </p:spPr>
            <p:txBody>
              <a:bodyPr anchor="ctr" rtlCol="false" tIns="48796" lIns="48796" bIns="48796" rIns="48796"/>
              <a:lstStyle/>
              <a:p>
                <a:pPr algn="ctr">
                  <a:lnSpc>
                    <a:spcPts val="3640"/>
                  </a:lnSpc>
                </a:pPr>
              </a:p>
            </p:txBody>
          </p:sp>
        </p:grpSp>
      </p:grpSp>
      <p:sp>
        <p:nvSpPr>
          <p:cNvPr name="Freeform 39" id="39"/>
          <p:cNvSpPr/>
          <p:nvPr/>
        </p:nvSpPr>
        <p:spPr>
          <a:xfrm flipH="false" flipV="false" rot="0">
            <a:off x="1151359" y="1936628"/>
            <a:ext cx="5349813" cy="3838491"/>
          </a:xfrm>
          <a:custGeom>
            <a:avLst/>
            <a:gdLst/>
            <a:ahLst/>
            <a:cxnLst/>
            <a:rect r="r" b="b" t="t" l="l"/>
            <a:pathLst>
              <a:path h="3838491" w="5349813">
                <a:moveTo>
                  <a:pt x="0" y="0"/>
                </a:moveTo>
                <a:lnTo>
                  <a:pt x="5349813" y="0"/>
                </a:lnTo>
                <a:lnTo>
                  <a:pt x="5349813" y="3838491"/>
                </a:lnTo>
                <a:lnTo>
                  <a:pt x="0" y="38384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184514" y="6168025"/>
          <a:ext cx="8074786" cy="3201562"/>
        </p:xfrm>
        <a:graphic>
          <a:graphicData uri="http://schemas.openxmlformats.org/drawingml/2006/table">
            <a:tbl>
              <a:tblPr/>
              <a:tblGrid>
                <a:gridCol w="1536197"/>
                <a:gridCol w="1431590"/>
                <a:gridCol w="1989947"/>
                <a:gridCol w="1336023"/>
                <a:gridCol w="1781028"/>
              </a:tblGrid>
              <a:tr h="1080824">
                <a:tc>
                  <a:txBody>
                    <a:bodyPr anchor="t" rtlCol="false"/>
                    <a:lstStyle/>
                    <a:p>
                      <a:pPr algn="ctr">
                        <a:lnSpc>
                          <a:spcPts val="2451"/>
                        </a:lnSpc>
                        <a:defRPr/>
                      </a:pPr>
                      <a:r>
                        <a:rPr lang="en-US" sz="1750" b="true">
                          <a:solidFill>
                            <a:srgbClr val="FFFFFF"/>
                          </a:solidFill>
                          <a:latin typeface="Nourd Bold"/>
                          <a:ea typeface="Nourd Bold"/>
                          <a:cs typeface="Nourd Bold"/>
                          <a:sym typeface="Nourd Bold"/>
                        </a:rPr>
                        <a:t>Metric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451"/>
                        </a:lnSpc>
                        <a:defRPr/>
                      </a:pPr>
                      <a:r>
                        <a:rPr lang="en-US" sz="1750" b="true">
                          <a:solidFill>
                            <a:srgbClr val="FFFFFF"/>
                          </a:solidFill>
                          <a:latin typeface="Nourd Bold"/>
                          <a:ea typeface="Nourd Bold"/>
                          <a:cs typeface="Nourd Bold"/>
                          <a:sym typeface="Nourd Bold"/>
                        </a:rPr>
                        <a:t>LC </a:t>
                      </a:r>
                      <a:endParaRPr lang="en-US" sz="1100"/>
                    </a:p>
                    <a:p>
                      <a:pPr algn="ctr">
                        <a:lnSpc>
                          <a:spcPts val="2451"/>
                        </a:lnSpc>
                      </a:pPr>
                      <a:r>
                        <a:rPr lang="en-US" sz="1750" b="true">
                          <a:solidFill>
                            <a:srgbClr val="FFFFFF"/>
                          </a:solidFill>
                          <a:latin typeface="Nourd Bold"/>
                          <a:ea typeface="Nourd Bold"/>
                          <a:cs typeface="Nourd Bold"/>
                          <a:sym typeface="Nourd Bold"/>
                        </a:rPr>
                        <a:t>(Train)</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451"/>
                        </a:lnSpc>
                        <a:defRPr/>
                      </a:pPr>
                      <a:r>
                        <a:rPr lang="en-US" sz="1750" b="true">
                          <a:solidFill>
                            <a:srgbClr val="FFFFFF"/>
                          </a:solidFill>
                          <a:latin typeface="Nourd Bold"/>
                          <a:ea typeface="Nourd Bold"/>
                          <a:cs typeface="Nourd Bold"/>
                          <a:sym typeface="Nourd Bold"/>
                        </a:rPr>
                        <a:t>LC (Predicted)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451"/>
                        </a:lnSpc>
                        <a:defRPr/>
                      </a:pPr>
                      <a:r>
                        <a:rPr lang="en-US" sz="1750" b="true">
                          <a:solidFill>
                            <a:srgbClr val="FFFFFF"/>
                          </a:solidFill>
                          <a:latin typeface="Nourd Bold"/>
                          <a:ea typeface="Nourd Bold"/>
                          <a:cs typeface="Nourd Bold"/>
                          <a:sym typeface="Nourd Bold"/>
                        </a:rPr>
                        <a:t>HALC (Train)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451"/>
                        </a:lnSpc>
                        <a:defRPr/>
                      </a:pPr>
                      <a:r>
                        <a:rPr lang="en-US" sz="1750" b="true">
                          <a:solidFill>
                            <a:srgbClr val="FFFFFF"/>
                          </a:solidFill>
                          <a:latin typeface="Nourd Bold"/>
                          <a:ea typeface="Nourd Bold"/>
                          <a:cs typeface="Nourd Bold"/>
                          <a:sym typeface="Nourd Bold"/>
                        </a:rPr>
                        <a:t>HALC (Predicted)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r>
              <a:tr h="751898">
                <a:tc>
                  <a:txBody>
                    <a:bodyPr anchor="t" rtlCol="false"/>
                    <a:lstStyle/>
                    <a:p>
                      <a:pPr algn="ctr">
                        <a:lnSpc>
                          <a:spcPts val="2451"/>
                        </a:lnSpc>
                        <a:defRPr/>
                      </a:pPr>
                      <a:r>
                        <a:rPr lang="en-US" sz="1750" b="true">
                          <a:solidFill>
                            <a:srgbClr val="000000"/>
                          </a:solidFill>
                          <a:latin typeface="Nourd Bold"/>
                          <a:ea typeface="Nourd Bold"/>
                          <a:cs typeface="Nourd Bold"/>
                          <a:sym typeface="Nourd Bold"/>
                        </a:rPr>
                        <a:t>Mean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451"/>
                        </a:lnSpc>
                        <a:defRPr/>
                      </a:pPr>
                      <a:r>
                        <a:rPr lang="en-US" sz="1750">
                          <a:solidFill>
                            <a:srgbClr val="000000"/>
                          </a:solidFill>
                          <a:latin typeface="Nourd"/>
                          <a:ea typeface="Nourd"/>
                          <a:cs typeface="Nourd"/>
                          <a:sym typeface="Nourd"/>
                        </a:rPr>
                        <a:t>629.84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451"/>
                        </a:lnSpc>
                        <a:defRPr/>
                      </a:pPr>
                      <a:r>
                        <a:rPr lang="en-US" sz="1750">
                          <a:solidFill>
                            <a:srgbClr val="000000"/>
                          </a:solidFill>
                          <a:latin typeface="Nourd"/>
                          <a:ea typeface="Nourd"/>
                          <a:cs typeface="Nourd"/>
                          <a:sym typeface="Nourd"/>
                        </a:rPr>
                        <a:t>233.25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451"/>
                        </a:lnSpc>
                        <a:defRPr/>
                      </a:pPr>
                      <a:r>
                        <a:rPr lang="en-US" sz="1750">
                          <a:solidFill>
                            <a:srgbClr val="000000"/>
                          </a:solidFill>
                          <a:latin typeface="Nourd"/>
                          <a:ea typeface="Nourd"/>
                          <a:cs typeface="Nourd"/>
                          <a:sym typeface="Nourd"/>
                        </a:rPr>
                        <a:t>1156.17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451"/>
                        </a:lnSpc>
                        <a:defRPr/>
                      </a:pPr>
                      <a:r>
                        <a:rPr lang="en-US" sz="1750">
                          <a:solidFill>
                            <a:srgbClr val="000000"/>
                          </a:solidFill>
                          <a:latin typeface="Nourd"/>
                          <a:ea typeface="Nourd"/>
                          <a:cs typeface="Nourd"/>
                          <a:sym typeface="Nourd"/>
                        </a:rPr>
                        <a:t>325.79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68840">
                <a:tc>
                  <a:txBody>
                    <a:bodyPr anchor="t" rtlCol="false"/>
                    <a:lstStyle/>
                    <a:p>
                      <a:pPr algn="ctr">
                        <a:lnSpc>
                          <a:spcPts val="2451"/>
                        </a:lnSpc>
                        <a:defRPr/>
                      </a:pPr>
                      <a:r>
                        <a:rPr lang="en-US" sz="1750" b="true">
                          <a:solidFill>
                            <a:srgbClr val="000000"/>
                          </a:solidFill>
                          <a:latin typeface="Nourd Bold"/>
                          <a:ea typeface="Nourd Bold"/>
                          <a:cs typeface="Nourd Bold"/>
                          <a:sym typeface="Nourd Bold"/>
                        </a:rPr>
                        <a:t>Standard Deviation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451"/>
                        </a:lnSpc>
                        <a:defRPr/>
                      </a:pPr>
                      <a:r>
                        <a:rPr lang="en-US" sz="1750">
                          <a:solidFill>
                            <a:srgbClr val="000000"/>
                          </a:solidFill>
                          <a:latin typeface="Nourd"/>
                          <a:ea typeface="Nourd"/>
                          <a:cs typeface="Nourd"/>
                          <a:sym typeface="Nourd"/>
                        </a:rPr>
                        <a:t>2448.34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451"/>
                        </a:lnSpc>
                        <a:defRPr/>
                      </a:pPr>
                      <a:r>
                        <a:rPr lang="en-US" sz="1750">
                          <a:solidFill>
                            <a:srgbClr val="000000"/>
                          </a:solidFill>
                          <a:latin typeface="Nourd"/>
                          <a:ea typeface="Nourd"/>
                          <a:cs typeface="Nourd"/>
                          <a:sym typeface="Nourd"/>
                        </a:rPr>
                        <a:t>78.55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451"/>
                        </a:lnSpc>
                        <a:defRPr/>
                      </a:pPr>
                      <a:r>
                        <a:rPr lang="en-US" sz="1750">
                          <a:solidFill>
                            <a:srgbClr val="000000"/>
                          </a:solidFill>
                          <a:latin typeface="Nourd"/>
                          <a:ea typeface="Nourd"/>
                          <a:cs typeface="Nourd"/>
                          <a:sym typeface="Nourd"/>
                        </a:rPr>
                        <a:t>4883.63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451"/>
                        </a:lnSpc>
                        <a:defRPr/>
                      </a:pPr>
                      <a:r>
                        <a:rPr lang="en-US" sz="1750">
                          <a:solidFill>
                            <a:srgbClr val="000000"/>
                          </a:solidFill>
                          <a:latin typeface="Nourd"/>
                          <a:ea typeface="Nourd"/>
                          <a:cs typeface="Nourd"/>
                          <a:sym typeface="Nourd"/>
                        </a:rPr>
                        <a:t>144.85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9920902" y="2039551"/>
            <a:ext cx="6005053" cy="4128474"/>
          </a:xfrm>
          <a:custGeom>
            <a:avLst/>
            <a:gdLst/>
            <a:ahLst/>
            <a:cxnLst/>
            <a:rect r="r" b="b" t="t" l="l"/>
            <a:pathLst>
              <a:path h="4128474" w="6005053">
                <a:moveTo>
                  <a:pt x="0" y="0"/>
                </a:moveTo>
                <a:lnTo>
                  <a:pt x="6005052" y="0"/>
                </a:lnTo>
                <a:lnTo>
                  <a:pt x="6005052" y="4128474"/>
                </a:lnTo>
                <a:lnTo>
                  <a:pt x="0" y="41284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971550"/>
            <a:ext cx="14759698" cy="620395"/>
          </a:xfrm>
          <a:prstGeom prst="rect">
            <a:avLst/>
          </a:prstGeom>
        </p:spPr>
        <p:txBody>
          <a:bodyPr anchor="t" rtlCol="false" tIns="0" lIns="0" bIns="0" rIns="0">
            <a:spAutoFit/>
          </a:bodyPr>
          <a:lstStyle/>
          <a:p>
            <a:pPr algn="l">
              <a:lnSpc>
                <a:spcPts val="5180"/>
              </a:lnSpc>
            </a:pPr>
            <a:r>
              <a:rPr lang="en-US" b="true" sz="3700">
                <a:solidFill>
                  <a:srgbClr val="000000"/>
                </a:solidFill>
                <a:latin typeface="Nourd Bold"/>
                <a:ea typeface="Nourd Bold"/>
                <a:cs typeface="Nourd Bold"/>
                <a:sym typeface="Nourd Bold"/>
              </a:rPr>
              <a:t>MODELING LOSS EXPOSURE: LC &amp; HALC OBJECTIVES</a:t>
            </a:r>
          </a:p>
        </p:txBody>
      </p:sp>
      <p:grpSp>
        <p:nvGrpSpPr>
          <p:cNvPr name="Group 5" id="5"/>
          <p:cNvGrpSpPr/>
          <p:nvPr/>
        </p:nvGrpSpPr>
        <p:grpSpPr>
          <a:xfrm rot="0">
            <a:off x="1028700" y="2011545"/>
            <a:ext cx="7758140" cy="7358042"/>
            <a:chOff x="0" y="0"/>
            <a:chExt cx="10344186" cy="9810722"/>
          </a:xfrm>
        </p:grpSpPr>
        <p:sp>
          <p:nvSpPr>
            <p:cNvPr name="TextBox 6" id="6"/>
            <p:cNvSpPr txBox="true"/>
            <p:nvPr/>
          </p:nvSpPr>
          <p:spPr>
            <a:xfrm rot="0">
              <a:off x="28309" y="2309176"/>
              <a:ext cx="5770711" cy="515620"/>
            </a:xfrm>
            <a:prstGeom prst="rect">
              <a:avLst/>
            </a:prstGeom>
          </p:spPr>
          <p:txBody>
            <a:bodyPr anchor="t" rtlCol="false" tIns="0" lIns="0" bIns="0" rIns="0">
              <a:spAutoFit/>
            </a:bodyPr>
            <a:lstStyle/>
            <a:p>
              <a:pPr algn="l">
                <a:lnSpc>
                  <a:spcPts val="3359"/>
                </a:lnSpc>
              </a:pPr>
              <a:r>
                <a:rPr lang="en-US" b="true" sz="2400">
                  <a:solidFill>
                    <a:srgbClr val="F15846"/>
                  </a:solidFill>
                  <a:latin typeface="Nourd Bold"/>
                  <a:ea typeface="Nourd Bold"/>
                  <a:cs typeface="Nourd Bold"/>
                  <a:sym typeface="Nourd Bold"/>
                </a:rPr>
                <a:t>WHY IT MATTERS</a:t>
              </a:r>
            </a:p>
          </p:txBody>
        </p:sp>
        <p:sp>
          <p:nvSpPr>
            <p:cNvPr name="TextBox 7" id="7"/>
            <p:cNvSpPr txBox="true"/>
            <p:nvPr/>
          </p:nvSpPr>
          <p:spPr>
            <a:xfrm rot="0">
              <a:off x="28309" y="2914083"/>
              <a:ext cx="10315877" cy="220154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Helps set fair and profitable premiums for each customer</a:t>
              </a:r>
            </a:p>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Especially important when historical claims data is sparse</a:t>
              </a:r>
            </a:p>
          </p:txBody>
        </p:sp>
        <p:sp>
          <p:nvSpPr>
            <p:cNvPr name="TextBox 8" id="8"/>
            <p:cNvSpPr txBox="true"/>
            <p:nvPr/>
          </p:nvSpPr>
          <p:spPr>
            <a:xfrm rot="0">
              <a:off x="129763" y="-38100"/>
              <a:ext cx="6456971" cy="515620"/>
            </a:xfrm>
            <a:prstGeom prst="rect">
              <a:avLst/>
            </a:prstGeom>
          </p:spPr>
          <p:txBody>
            <a:bodyPr anchor="t" rtlCol="false" tIns="0" lIns="0" bIns="0" rIns="0">
              <a:spAutoFit/>
            </a:bodyPr>
            <a:lstStyle/>
            <a:p>
              <a:pPr algn="l">
                <a:lnSpc>
                  <a:spcPts val="3359"/>
                </a:lnSpc>
              </a:pPr>
              <a:r>
                <a:rPr lang="en-US" b="true" sz="2400">
                  <a:solidFill>
                    <a:srgbClr val="F15846"/>
                  </a:solidFill>
                  <a:latin typeface="Nourd Bold"/>
                  <a:ea typeface="Nourd Bold"/>
                  <a:cs typeface="Nourd Bold"/>
                  <a:sym typeface="Nourd Bold"/>
                </a:rPr>
                <a:t>WHAT WE’RE PREDICTING</a:t>
              </a:r>
            </a:p>
          </p:txBody>
        </p:sp>
        <p:sp>
          <p:nvSpPr>
            <p:cNvPr name="TextBox 9" id="9"/>
            <p:cNvSpPr txBox="true"/>
            <p:nvPr/>
          </p:nvSpPr>
          <p:spPr>
            <a:xfrm rot="0">
              <a:off x="129763" y="566806"/>
              <a:ext cx="10112969" cy="164274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Loss Cost (LC): Incurred loss / Exposure units</a:t>
              </a:r>
            </a:p>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HALC: LC adjusted using historical correction factor(X.18)</a:t>
              </a:r>
            </a:p>
          </p:txBody>
        </p:sp>
        <p:sp>
          <p:nvSpPr>
            <p:cNvPr name="TextBox 10" id="10"/>
            <p:cNvSpPr txBox="true"/>
            <p:nvPr/>
          </p:nvSpPr>
          <p:spPr>
            <a:xfrm rot="0">
              <a:off x="28309" y="5215524"/>
              <a:ext cx="5770711" cy="515620"/>
            </a:xfrm>
            <a:prstGeom prst="rect">
              <a:avLst/>
            </a:prstGeom>
          </p:spPr>
          <p:txBody>
            <a:bodyPr anchor="t" rtlCol="false" tIns="0" lIns="0" bIns="0" rIns="0">
              <a:spAutoFit/>
            </a:bodyPr>
            <a:lstStyle/>
            <a:p>
              <a:pPr algn="l">
                <a:lnSpc>
                  <a:spcPts val="3359"/>
                </a:lnSpc>
              </a:pPr>
              <a:r>
                <a:rPr lang="en-US" b="true" sz="2400">
                  <a:solidFill>
                    <a:srgbClr val="F15846"/>
                  </a:solidFill>
                  <a:latin typeface="Nourd Bold"/>
                  <a:ea typeface="Nourd Bold"/>
                  <a:cs typeface="Nourd Bold"/>
                  <a:sym typeface="Nourd Bold"/>
                </a:rPr>
                <a:t>MODELING CHALLENGE</a:t>
              </a:r>
            </a:p>
          </p:txBody>
        </p:sp>
        <p:sp>
          <p:nvSpPr>
            <p:cNvPr name="TextBox 11" id="11"/>
            <p:cNvSpPr txBox="true"/>
            <p:nvPr/>
          </p:nvSpPr>
          <p:spPr>
            <a:xfrm rot="0">
              <a:off x="28309" y="5820430"/>
              <a:ext cx="10315877" cy="220154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LC and HALC are heavily skewed due to rare but large claims</a:t>
              </a:r>
            </a:p>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Many customers have zero claims, making prediction harder</a:t>
              </a:r>
            </a:p>
          </p:txBody>
        </p:sp>
        <p:sp>
          <p:nvSpPr>
            <p:cNvPr name="TextBox 12" id="12"/>
            <p:cNvSpPr txBox="true"/>
            <p:nvPr/>
          </p:nvSpPr>
          <p:spPr>
            <a:xfrm rot="0">
              <a:off x="0" y="8726777"/>
              <a:ext cx="10315877" cy="108394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Applied log-transformation to stabilize data</a:t>
              </a:r>
            </a:p>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Tested GLM (Tweedie), MLP, XGBoost, and LightGBM</a:t>
              </a:r>
            </a:p>
          </p:txBody>
        </p:sp>
        <p:sp>
          <p:nvSpPr>
            <p:cNvPr name="TextBox 13" id="13"/>
            <p:cNvSpPr txBox="true"/>
            <p:nvPr/>
          </p:nvSpPr>
          <p:spPr>
            <a:xfrm rot="0">
              <a:off x="28309" y="8121871"/>
              <a:ext cx="5770711" cy="515620"/>
            </a:xfrm>
            <a:prstGeom prst="rect">
              <a:avLst/>
            </a:prstGeom>
          </p:spPr>
          <p:txBody>
            <a:bodyPr anchor="t" rtlCol="false" tIns="0" lIns="0" bIns="0" rIns="0">
              <a:spAutoFit/>
            </a:bodyPr>
            <a:lstStyle/>
            <a:p>
              <a:pPr algn="l">
                <a:lnSpc>
                  <a:spcPts val="3359"/>
                </a:lnSpc>
              </a:pPr>
              <a:r>
                <a:rPr lang="en-US" b="true" sz="2400">
                  <a:solidFill>
                    <a:srgbClr val="F15846"/>
                  </a:solidFill>
                  <a:latin typeface="Nourd Bold"/>
                  <a:ea typeface="Nourd Bold"/>
                  <a:cs typeface="Nourd Bold"/>
                  <a:sym typeface="Nourd Bold"/>
                </a:rPr>
                <a:t>APPROACH</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19631" y="2334120"/>
          <a:ext cx="6685005" cy="3914947"/>
        </p:xfrm>
        <a:graphic>
          <a:graphicData uri="http://schemas.openxmlformats.org/drawingml/2006/table">
            <a:tbl>
              <a:tblPr/>
              <a:tblGrid>
                <a:gridCol w="1581607"/>
                <a:gridCol w="1356560"/>
                <a:gridCol w="1157431"/>
                <a:gridCol w="1486648"/>
                <a:gridCol w="1102759"/>
              </a:tblGrid>
              <a:tr h="989745">
                <a:tc>
                  <a:txBody>
                    <a:bodyPr anchor="t" rtlCol="false"/>
                    <a:lstStyle/>
                    <a:p>
                      <a:pPr algn="ctr">
                        <a:lnSpc>
                          <a:spcPts val="2394"/>
                        </a:lnSpc>
                        <a:defRPr/>
                      </a:pPr>
                      <a:r>
                        <a:rPr lang="en-US" sz="1710" b="true">
                          <a:solidFill>
                            <a:srgbClr val="FFFFFF"/>
                          </a:solidFill>
                          <a:latin typeface="Nourd Bold"/>
                          <a:ea typeface="Nourd Bold"/>
                          <a:cs typeface="Nourd Bold"/>
                          <a:sym typeface="Nourd Bold"/>
                        </a:rPr>
                        <a:t>Model</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solidFill>
                      <a:srgbClr val="F15846"/>
                    </a:solidFill>
                  </a:tcPr>
                </a:tc>
                <a:tc>
                  <a:txBody>
                    <a:bodyPr anchor="t" rtlCol="false"/>
                    <a:lstStyle/>
                    <a:p>
                      <a:pPr algn="ctr">
                        <a:lnSpc>
                          <a:spcPts val="2394"/>
                        </a:lnSpc>
                        <a:defRPr/>
                      </a:pPr>
                      <a:r>
                        <a:rPr lang="en-US" sz="1710" b="true">
                          <a:solidFill>
                            <a:srgbClr val="FFFFFF"/>
                          </a:solidFill>
                          <a:latin typeface="Nourd Bold"/>
                          <a:ea typeface="Nourd Bold"/>
                          <a:cs typeface="Nourd Bold"/>
                          <a:sym typeface="Nourd Bold"/>
                        </a:rPr>
                        <a:t>R-squared</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solidFill>
                      <a:srgbClr val="F15846"/>
                    </a:solidFill>
                  </a:tcPr>
                </a:tc>
                <a:tc>
                  <a:txBody>
                    <a:bodyPr anchor="t" rtlCol="false"/>
                    <a:lstStyle/>
                    <a:p>
                      <a:pPr algn="ctr">
                        <a:lnSpc>
                          <a:spcPts val="2394"/>
                        </a:lnSpc>
                        <a:defRPr/>
                      </a:pPr>
                      <a:r>
                        <a:rPr lang="en-US" sz="1710" b="true">
                          <a:solidFill>
                            <a:srgbClr val="FFFFFF"/>
                          </a:solidFill>
                          <a:latin typeface="Nourd Bold"/>
                          <a:ea typeface="Nourd Bold"/>
                          <a:cs typeface="Nourd Bold"/>
                          <a:sym typeface="Nourd Bold"/>
                        </a:rPr>
                        <a:t>Target</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solidFill>
                      <a:srgbClr val="F15846"/>
                    </a:solidFill>
                  </a:tcPr>
                </a:tc>
                <a:tc>
                  <a:txBody>
                    <a:bodyPr anchor="t" rtlCol="false"/>
                    <a:lstStyle/>
                    <a:p>
                      <a:pPr algn="ctr">
                        <a:lnSpc>
                          <a:spcPts val="2394"/>
                        </a:lnSpc>
                        <a:defRPr/>
                      </a:pPr>
                      <a:r>
                        <a:rPr lang="en-US" sz="1710" b="true">
                          <a:solidFill>
                            <a:srgbClr val="FFFFFF"/>
                          </a:solidFill>
                          <a:latin typeface="Nourd Bold"/>
                          <a:ea typeface="Nourd Bold"/>
                          <a:cs typeface="Nourd Bold"/>
                          <a:sym typeface="Nourd Bold"/>
                        </a:rPr>
                        <a:t>MSE</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solidFill>
                      <a:srgbClr val="F15846"/>
                    </a:solidFill>
                  </a:tcPr>
                </a:tc>
                <a:tc>
                  <a:txBody>
                    <a:bodyPr anchor="t" rtlCol="false"/>
                    <a:lstStyle/>
                    <a:p>
                      <a:pPr algn="ctr">
                        <a:lnSpc>
                          <a:spcPts val="2394"/>
                        </a:lnSpc>
                        <a:defRPr/>
                      </a:pPr>
                      <a:r>
                        <a:rPr lang="en-US" sz="1710" b="true">
                          <a:solidFill>
                            <a:srgbClr val="FFFFFF"/>
                          </a:solidFill>
                          <a:latin typeface="Nourd Bold"/>
                          <a:ea typeface="Nourd Bold"/>
                          <a:cs typeface="Nourd Bold"/>
                          <a:sym typeface="Nourd Bold"/>
                        </a:rPr>
                        <a:t>MAE</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solidFill>
                      <a:srgbClr val="F15846"/>
                    </a:solidFill>
                  </a:tcPr>
                </a:tc>
              </a:tr>
              <a:tr h="731300">
                <a:tc>
                  <a:txBody>
                    <a:bodyPr anchor="t" rtlCol="false"/>
                    <a:lstStyle/>
                    <a:p>
                      <a:pPr algn="ctr">
                        <a:lnSpc>
                          <a:spcPts val="2394"/>
                        </a:lnSpc>
                        <a:defRPr/>
                      </a:pPr>
                      <a:r>
                        <a:rPr lang="en-US" sz="1710" b="true">
                          <a:solidFill>
                            <a:srgbClr val="000000"/>
                          </a:solidFill>
                          <a:latin typeface="Nourd Bold"/>
                          <a:ea typeface="Nourd Bold"/>
                          <a:cs typeface="Nourd Bold"/>
                          <a:sym typeface="Nourd Bold"/>
                        </a:rPr>
                        <a:t>LightGBM</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0.7744</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HALC</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300.22</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14.14</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r>
              <a:tr h="731300">
                <a:tc>
                  <a:txBody>
                    <a:bodyPr anchor="t" rtlCol="false"/>
                    <a:lstStyle/>
                    <a:p>
                      <a:pPr algn="ctr">
                        <a:lnSpc>
                          <a:spcPts val="2394"/>
                        </a:lnSpc>
                        <a:defRPr/>
                      </a:pPr>
                      <a:r>
                        <a:rPr lang="en-US" sz="1710" b="true">
                          <a:solidFill>
                            <a:srgbClr val="000000"/>
                          </a:solidFill>
                          <a:latin typeface="Nourd Bold"/>
                          <a:ea typeface="Nourd Bold"/>
                          <a:cs typeface="Nourd Bold"/>
                          <a:sym typeface="Nourd Bold"/>
                        </a:rPr>
                        <a:t>LightGBM</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0.7202</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LC</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0.0459</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0.1996</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r>
              <a:tr h="731300">
                <a:tc>
                  <a:txBody>
                    <a:bodyPr anchor="t" rtlCol="false"/>
                    <a:lstStyle/>
                    <a:p>
                      <a:pPr algn="ctr">
                        <a:lnSpc>
                          <a:spcPts val="2394"/>
                        </a:lnSpc>
                        <a:defRPr/>
                      </a:pPr>
                      <a:r>
                        <a:rPr lang="en-US" sz="1710" b="true">
                          <a:solidFill>
                            <a:srgbClr val="000000"/>
                          </a:solidFill>
                          <a:latin typeface="Nourd Bold"/>
                          <a:ea typeface="Nourd Bold"/>
                          <a:cs typeface="Nourd Bold"/>
                          <a:sym typeface="Nourd Bold"/>
                        </a:rPr>
                        <a:t>XGBoost</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-2.000</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1764"/>
                        </a:lnSpc>
                        <a:defRPr/>
                      </a:pPr>
                      <a:r>
                        <a:rPr lang="en-US" sz="1260">
                          <a:solidFill>
                            <a:srgbClr val="000000"/>
                          </a:solidFill>
                          <a:latin typeface="Nourd"/>
                          <a:ea typeface="Nourd"/>
                          <a:cs typeface="Nourd"/>
                          <a:sym typeface="Nourd"/>
                        </a:rPr>
                        <a:t>HALC</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3992.37</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59.55</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r>
              <a:tr h="731300">
                <a:tc>
                  <a:txBody>
                    <a:bodyPr anchor="t" rtlCol="false"/>
                    <a:lstStyle/>
                    <a:p>
                      <a:pPr algn="ctr">
                        <a:lnSpc>
                          <a:spcPts val="2394"/>
                        </a:lnSpc>
                        <a:defRPr/>
                      </a:pPr>
                      <a:r>
                        <a:rPr lang="en-US" sz="1710" b="true">
                          <a:solidFill>
                            <a:srgbClr val="000000"/>
                          </a:solidFill>
                          <a:latin typeface="Nourd Bold"/>
                          <a:ea typeface="Nourd Bold"/>
                          <a:cs typeface="Nourd Bold"/>
                          <a:sym typeface="Nourd Bold"/>
                        </a:rPr>
                        <a:t>XGBoost</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0.5050</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LC</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0.0812</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c>
                  <a:txBody>
                    <a:bodyPr anchor="t" rtlCol="false"/>
                    <a:lstStyle/>
                    <a:p>
                      <a:pPr algn="ctr">
                        <a:lnSpc>
                          <a:spcPts val="2394"/>
                        </a:lnSpc>
                        <a:defRPr/>
                      </a:pPr>
                      <a:r>
                        <a:rPr lang="en-US" sz="1710">
                          <a:solidFill>
                            <a:srgbClr val="000000"/>
                          </a:solidFill>
                          <a:latin typeface="Nourd"/>
                          <a:ea typeface="Nourd"/>
                          <a:cs typeface="Nourd"/>
                          <a:sym typeface="Nourd"/>
                        </a:rPr>
                        <a:t>0.2750</a:t>
                      </a:r>
                      <a:endParaRPr lang="en-US" sz="1100"/>
                    </a:p>
                  </a:txBody>
                  <a:tcPr marL="171470" marR="171470" marT="171470" marB="171470" anchor="ctr">
                    <a:lnL cmpd="sng" algn="ctr" cap="flat" w="34294">
                      <a:solidFill>
                        <a:srgbClr val="000000"/>
                      </a:solidFill>
                      <a:prstDash val="solid"/>
                      <a:round/>
                      <a:headEnd type="none" w="med" len="med"/>
                      <a:tailEnd type="none" w="med" len="med"/>
                    </a:lnL>
                    <a:lnR cmpd="sng" algn="ctr" cap="flat" w="34294">
                      <a:solidFill>
                        <a:srgbClr val="000000"/>
                      </a:solidFill>
                      <a:prstDash val="solid"/>
                      <a:round/>
                      <a:headEnd type="none" w="med" len="med"/>
                      <a:tailEnd type="none" w="med" len="med"/>
                    </a:lnR>
                    <a:lnT cmpd="sng" algn="ctr" cap="flat" w="34294">
                      <a:solidFill>
                        <a:srgbClr val="000000"/>
                      </a:solidFill>
                      <a:prstDash val="solid"/>
                      <a:round/>
                      <a:headEnd type="none" w="med" len="med"/>
                      <a:tailEnd type="none" w="med" len="med"/>
                    </a:lnT>
                    <a:lnB cmpd="sng" algn="ctr" cap="flat" w="34294">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919631" y="1399399"/>
            <a:ext cx="7183339" cy="629920"/>
          </a:xfrm>
          <a:prstGeom prst="rect">
            <a:avLst/>
          </a:prstGeom>
        </p:spPr>
        <p:txBody>
          <a:bodyPr anchor="t" rtlCol="false" tIns="0" lIns="0" bIns="0" rIns="0">
            <a:spAutoFit/>
          </a:bodyPr>
          <a:lstStyle/>
          <a:p>
            <a:pPr algn="l">
              <a:lnSpc>
                <a:spcPts val="5179"/>
              </a:lnSpc>
            </a:pPr>
            <a:r>
              <a:rPr lang="en-US" b="true" sz="3699">
                <a:solidFill>
                  <a:srgbClr val="000000"/>
                </a:solidFill>
                <a:latin typeface="Nourd Bold"/>
                <a:ea typeface="Nourd Bold"/>
                <a:cs typeface="Nourd Bold"/>
                <a:sym typeface="Nourd Bold"/>
              </a:rPr>
              <a:t>WHY WE CHOSE LIGHTGBM</a:t>
            </a:r>
          </a:p>
        </p:txBody>
      </p:sp>
      <p:grpSp>
        <p:nvGrpSpPr>
          <p:cNvPr name="Group 4" id="4"/>
          <p:cNvGrpSpPr/>
          <p:nvPr/>
        </p:nvGrpSpPr>
        <p:grpSpPr>
          <a:xfrm rot="0">
            <a:off x="942392" y="7660745"/>
            <a:ext cx="7160578" cy="1546346"/>
            <a:chOff x="0" y="0"/>
            <a:chExt cx="9547437" cy="2061795"/>
          </a:xfrm>
        </p:grpSpPr>
        <p:sp>
          <p:nvSpPr>
            <p:cNvPr name="TextBox 5" id="5"/>
            <p:cNvSpPr txBox="true"/>
            <p:nvPr/>
          </p:nvSpPr>
          <p:spPr>
            <a:xfrm rot="0">
              <a:off x="0" y="977856"/>
              <a:ext cx="9547437" cy="1083939"/>
            </a:xfrm>
            <a:prstGeom prst="rect">
              <a:avLst/>
            </a:prstGeom>
          </p:spPr>
          <p:txBody>
            <a:bodyPr anchor="t" rtlCol="false" tIns="0" lIns="0" bIns="0" rIns="0">
              <a:spAutoFit/>
            </a:bodyPr>
            <a:lstStyle/>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High</a:t>
              </a:r>
              <a:r>
                <a:rPr lang="en-US" sz="2400">
                  <a:solidFill>
                    <a:srgbClr val="000000"/>
                  </a:solidFill>
                  <a:latin typeface="Source Sans Pro"/>
                  <a:ea typeface="Source Sans Pro"/>
                  <a:cs typeface="Source Sans Pro"/>
                  <a:sym typeface="Source Sans Pro"/>
                </a:rPr>
                <a:t>est R² → better explanation of cost variation</a:t>
              </a:r>
            </a:p>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Lowest MAE → most accurate predictions</a:t>
              </a:r>
            </a:p>
          </p:txBody>
        </p:sp>
        <p:sp>
          <p:nvSpPr>
            <p:cNvPr name="TextBox 6" id="6"/>
            <p:cNvSpPr txBox="true"/>
            <p:nvPr/>
          </p:nvSpPr>
          <p:spPr>
            <a:xfrm rot="0">
              <a:off x="43777" y="-38100"/>
              <a:ext cx="9459883" cy="957580"/>
            </a:xfrm>
            <a:prstGeom prst="rect">
              <a:avLst/>
            </a:prstGeom>
          </p:spPr>
          <p:txBody>
            <a:bodyPr anchor="t" rtlCol="false" tIns="0" lIns="0" bIns="0" rIns="0">
              <a:spAutoFit/>
            </a:bodyPr>
            <a:lstStyle/>
            <a:p>
              <a:pPr algn="l">
                <a:lnSpc>
                  <a:spcPts val="2940"/>
                </a:lnSpc>
              </a:pPr>
              <a:r>
                <a:rPr lang="en-US" b="true" sz="2100">
                  <a:solidFill>
                    <a:srgbClr val="F15846"/>
                  </a:solidFill>
                  <a:latin typeface="Nourd Bold"/>
                  <a:ea typeface="Nourd Bold"/>
                  <a:cs typeface="Nourd Bold"/>
                  <a:sym typeface="Nourd Bold"/>
                </a:rPr>
                <a:t>L</a:t>
              </a:r>
              <a:r>
                <a:rPr lang="en-US" b="true" sz="2100">
                  <a:solidFill>
                    <a:srgbClr val="F15846"/>
                  </a:solidFill>
                  <a:latin typeface="Nourd Bold"/>
                  <a:ea typeface="Nourd Bold"/>
                  <a:cs typeface="Nourd Bold"/>
                  <a:sym typeface="Nourd Bold"/>
                </a:rPr>
                <a:t>IGHTGBM CONSISTENTLY OUTPERFORMED OTHERS ACROSS KEY METRICS</a:t>
              </a:r>
            </a:p>
          </p:txBody>
        </p:sp>
      </p:grpSp>
      <p:grpSp>
        <p:nvGrpSpPr>
          <p:cNvPr name="Group 7" id="7"/>
          <p:cNvGrpSpPr/>
          <p:nvPr/>
        </p:nvGrpSpPr>
        <p:grpSpPr>
          <a:xfrm rot="0">
            <a:off x="942392" y="6553866"/>
            <a:ext cx="10145278" cy="744929"/>
            <a:chOff x="0" y="0"/>
            <a:chExt cx="13527038" cy="993238"/>
          </a:xfrm>
        </p:grpSpPr>
        <p:sp>
          <p:nvSpPr>
            <p:cNvPr name="TextBox 8" id="8"/>
            <p:cNvSpPr txBox="true"/>
            <p:nvPr/>
          </p:nvSpPr>
          <p:spPr>
            <a:xfrm rot="0">
              <a:off x="62024" y="-38100"/>
              <a:ext cx="13402990" cy="462280"/>
            </a:xfrm>
            <a:prstGeom prst="rect">
              <a:avLst/>
            </a:prstGeom>
          </p:spPr>
          <p:txBody>
            <a:bodyPr anchor="t" rtlCol="false" tIns="0" lIns="0" bIns="0" rIns="0">
              <a:spAutoFit/>
            </a:bodyPr>
            <a:lstStyle/>
            <a:p>
              <a:pPr algn="l">
                <a:lnSpc>
                  <a:spcPts val="2940"/>
                </a:lnSpc>
              </a:pPr>
              <a:r>
                <a:rPr lang="en-US" sz="2100">
                  <a:solidFill>
                    <a:srgbClr val="000000"/>
                  </a:solidFill>
                  <a:latin typeface="Nourd"/>
                  <a:ea typeface="Nourd"/>
                  <a:cs typeface="Nourd"/>
                  <a:sym typeface="Nourd"/>
                </a:rPr>
                <a:t>We </a:t>
              </a:r>
              <a:r>
                <a:rPr lang="en-US" sz="2100">
                  <a:solidFill>
                    <a:srgbClr val="000000"/>
                  </a:solidFill>
                  <a:latin typeface="Nourd"/>
                  <a:ea typeface="Nourd"/>
                  <a:cs typeface="Nourd"/>
                  <a:sym typeface="Nourd"/>
                </a:rPr>
                <a:t>tested multiple models to predict LC and HALC</a:t>
              </a:r>
            </a:p>
          </p:txBody>
        </p:sp>
        <p:sp>
          <p:nvSpPr>
            <p:cNvPr name="TextBox 9" id="9"/>
            <p:cNvSpPr txBox="true"/>
            <p:nvPr/>
          </p:nvSpPr>
          <p:spPr>
            <a:xfrm rot="0">
              <a:off x="0" y="468099"/>
              <a:ext cx="13527038" cy="525139"/>
            </a:xfrm>
            <a:prstGeom prst="rect">
              <a:avLst/>
            </a:prstGeom>
          </p:spPr>
          <p:txBody>
            <a:bodyPr anchor="t" rtlCol="false" tIns="0" lIns="0" bIns="0" rIns="0">
              <a:spAutoFit/>
            </a:bodyPr>
            <a:lstStyle/>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GLM (Tweedie), MLP, XGBoost, and LightGBM</a:t>
              </a:r>
            </a:p>
          </p:txBody>
        </p:sp>
      </p:grpSp>
      <p:sp>
        <p:nvSpPr>
          <p:cNvPr name="TextBox 10" id="10"/>
          <p:cNvSpPr txBox="true"/>
          <p:nvPr/>
        </p:nvSpPr>
        <p:spPr>
          <a:xfrm rot="0">
            <a:off x="8348689" y="6506241"/>
            <a:ext cx="6720008" cy="824865"/>
          </a:xfrm>
          <a:prstGeom prst="rect">
            <a:avLst/>
          </a:prstGeom>
        </p:spPr>
        <p:txBody>
          <a:bodyPr anchor="t" rtlCol="false" tIns="0" lIns="0" bIns="0" rIns="0">
            <a:spAutoFit/>
          </a:bodyPr>
          <a:lstStyle/>
          <a:p>
            <a:pPr algn="l">
              <a:lnSpc>
                <a:spcPts val="3359"/>
              </a:lnSpc>
            </a:pPr>
            <a:r>
              <a:rPr lang="en-US" sz="2399">
                <a:solidFill>
                  <a:srgbClr val="000000"/>
                </a:solidFill>
                <a:latin typeface="Source Sans Pro"/>
                <a:ea typeface="Source Sans Pro"/>
                <a:cs typeface="Source Sans Pro"/>
                <a:sym typeface="Source Sans Pro"/>
              </a:rPr>
              <a:t>Outperformed especially on HALC, which directly affects premium setting</a:t>
            </a:r>
          </a:p>
        </p:txBody>
      </p:sp>
      <p:sp>
        <p:nvSpPr>
          <p:cNvPr name="TextBox 11" id="11"/>
          <p:cNvSpPr txBox="true"/>
          <p:nvPr/>
        </p:nvSpPr>
        <p:spPr>
          <a:xfrm rot="0">
            <a:off x="8348689" y="7645431"/>
            <a:ext cx="6249815" cy="824865"/>
          </a:xfrm>
          <a:prstGeom prst="rect">
            <a:avLst/>
          </a:prstGeom>
        </p:spPr>
        <p:txBody>
          <a:bodyPr anchor="t" rtlCol="false" tIns="0" lIns="0" bIns="0" rIns="0">
            <a:spAutoFit/>
          </a:bodyPr>
          <a:lstStyle/>
          <a:p>
            <a:pPr algn="l">
              <a:lnSpc>
                <a:spcPts val="3359"/>
              </a:lnSpc>
            </a:pPr>
            <a:r>
              <a:rPr lang="en-US" sz="2399" b="true">
                <a:solidFill>
                  <a:srgbClr val="000000"/>
                </a:solidFill>
                <a:latin typeface="Source Sans Pro Bold"/>
                <a:ea typeface="Source Sans Pro Bold"/>
                <a:cs typeface="Source Sans Pro Bold"/>
                <a:sym typeface="Source Sans Pro Bold"/>
              </a:rPr>
              <a:t>Chosen as the final model for generating loss cost predictions</a:t>
            </a:r>
          </a:p>
        </p:txBody>
      </p:sp>
      <p:pic>
        <p:nvPicPr>
          <p:cNvPr name="Picture 12" id="12"/>
          <p:cNvPicPr>
            <a:picLocks noChangeAspect="true"/>
          </p:cNvPicPr>
          <p:nvPr/>
        </p:nvPicPr>
        <p:blipFill>
          <a:blip r:embed="rId3"/>
          <a:stretch>
            <a:fillRect/>
          </a:stretch>
        </p:blipFill>
        <p:spPr>
          <a:xfrm rot="0">
            <a:off x="12033187" y="1718822"/>
            <a:ext cx="5820199" cy="5015260"/>
          </a:xfrm>
          <a:prstGeom prst="rect">
            <a:avLst/>
          </a:prstGeom>
        </p:spPr>
      </p:pic>
      <p:sp>
        <p:nvSpPr>
          <p:cNvPr name="Freeform 13" id="13"/>
          <p:cNvSpPr/>
          <p:nvPr/>
        </p:nvSpPr>
        <p:spPr>
          <a:xfrm flipH="false" flipV="false" rot="0">
            <a:off x="7604635" y="2334120"/>
            <a:ext cx="4855748" cy="3914947"/>
          </a:xfrm>
          <a:custGeom>
            <a:avLst/>
            <a:gdLst/>
            <a:ahLst/>
            <a:cxnLst/>
            <a:rect r="r" b="b" t="t" l="l"/>
            <a:pathLst>
              <a:path h="3914947" w="4855748">
                <a:moveTo>
                  <a:pt x="0" y="0"/>
                </a:moveTo>
                <a:lnTo>
                  <a:pt x="4855748" y="0"/>
                </a:lnTo>
                <a:lnTo>
                  <a:pt x="4855748" y="3914946"/>
                </a:lnTo>
                <a:lnTo>
                  <a:pt x="0" y="39149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4439860" y="7298795"/>
            <a:ext cx="14248811" cy="14248811"/>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grpSp>
        <p:nvGrpSpPr>
          <p:cNvPr name="Group 16" id="16"/>
          <p:cNvGrpSpPr/>
          <p:nvPr/>
        </p:nvGrpSpPr>
        <p:grpSpPr>
          <a:xfrm rot="0">
            <a:off x="13359406" y="-11914691"/>
            <a:ext cx="14248811" cy="14248811"/>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49037" y="776043"/>
            <a:ext cx="10329180" cy="1277620"/>
          </a:xfrm>
          <a:prstGeom prst="rect">
            <a:avLst/>
          </a:prstGeom>
        </p:spPr>
        <p:txBody>
          <a:bodyPr anchor="t" rtlCol="false" tIns="0" lIns="0" bIns="0" rIns="0">
            <a:spAutoFit/>
          </a:bodyPr>
          <a:lstStyle/>
          <a:p>
            <a:pPr algn="l">
              <a:lnSpc>
                <a:spcPts val="5180"/>
              </a:lnSpc>
            </a:pPr>
            <a:r>
              <a:rPr lang="en-US" sz="3700" b="true">
                <a:solidFill>
                  <a:srgbClr val="000000"/>
                </a:solidFill>
                <a:latin typeface="Nourd Bold"/>
                <a:ea typeface="Nourd Bold"/>
                <a:cs typeface="Nourd Bold"/>
                <a:sym typeface="Nourd Bold"/>
              </a:rPr>
              <a:t>Modeling Claim Risk: </a:t>
            </a:r>
          </a:p>
          <a:p>
            <a:pPr algn="l">
              <a:lnSpc>
                <a:spcPts val="5180"/>
              </a:lnSpc>
            </a:pPr>
            <a:r>
              <a:rPr lang="en-US" sz="3700" b="true">
                <a:solidFill>
                  <a:srgbClr val="000000"/>
                </a:solidFill>
                <a:latin typeface="Nourd Bold"/>
                <a:ea typeface="Nourd Bold"/>
                <a:cs typeface="Nourd Bold"/>
                <a:sym typeface="Nourd Bold"/>
              </a:rPr>
              <a:t>Predicting Claim Status (CS)</a:t>
            </a:r>
          </a:p>
        </p:txBody>
      </p:sp>
      <p:graphicFrame>
        <p:nvGraphicFramePr>
          <p:cNvPr name="Table 3" id="3"/>
          <p:cNvGraphicFramePr>
            <a:graphicFrameLocks noGrp="true"/>
          </p:cNvGraphicFramePr>
          <p:nvPr/>
        </p:nvGraphicFramePr>
        <p:xfrm>
          <a:off x="7491020" y="2434663"/>
          <a:ext cx="5979671" cy="6733213"/>
        </p:xfrm>
        <a:graphic>
          <a:graphicData uri="http://schemas.openxmlformats.org/drawingml/2006/table">
            <a:tbl>
              <a:tblPr/>
              <a:tblGrid>
                <a:gridCol w="2234802"/>
                <a:gridCol w="2429108"/>
                <a:gridCol w="1315761"/>
              </a:tblGrid>
              <a:tr h="760988">
                <a:tc>
                  <a:txBody>
                    <a:bodyPr anchor="t" rtlCol="false"/>
                    <a:lstStyle/>
                    <a:p>
                      <a:pPr algn="ctr">
                        <a:lnSpc>
                          <a:spcPts val="2520"/>
                        </a:lnSpc>
                        <a:defRPr/>
                      </a:pPr>
                      <a:r>
                        <a:rPr lang="en-US" sz="1800" b="true">
                          <a:solidFill>
                            <a:srgbClr val="FFFFFF"/>
                          </a:solidFill>
                          <a:latin typeface="Nourd Bold"/>
                          <a:ea typeface="Nourd Bold"/>
                          <a:cs typeface="Nourd Bold"/>
                          <a:sym typeface="Nourd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520"/>
                        </a:lnSpc>
                        <a:defRPr/>
                      </a:pPr>
                      <a:r>
                        <a:rPr lang="en-US" sz="1800" b="true">
                          <a:solidFill>
                            <a:srgbClr val="FFFFFF"/>
                          </a:solidFill>
                          <a:latin typeface="Nourd Bold"/>
                          <a:ea typeface="Nourd Bold"/>
                          <a:cs typeface="Nourd Bold"/>
                          <a:sym typeface="Nourd Bold"/>
                        </a:rPr>
                        <a:t>Test ROC-AUC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380"/>
                        </a:lnSpc>
                        <a:defRPr/>
                      </a:pPr>
                      <a:r>
                        <a:rPr lang="en-US" sz="1700" b="true">
                          <a:solidFill>
                            <a:srgbClr val="FFFFFF"/>
                          </a:solidFill>
                          <a:latin typeface="Nourd Bold"/>
                          <a:ea typeface="Nourd Bold"/>
                          <a:cs typeface="Nourd Bold"/>
                          <a:sym typeface="Nourd Bold"/>
                        </a:rPr>
                        <a:t>Rank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r>
              <a:tr h="756757">
                <a:tc>
                  <a:txBody>
                    <a:bodyPr anchor="t" rtlCol="false"/>
                    <a:lstStyle/>
                    <a:p>
                      <a:pPr algn="ctr">
                        <a:lnSpc>
                          <a:spcPts val="2520"/>
                        </a:lnSpc>
                        <a:defRPr/>
                      </a:pPr>
                      <a:r>
                        <a:rPr lang="en-US" sz="1800" b="true">
                          <a:solidFill>
                            <a:srgbClr val="000000"/>
                          </a:solidFill>
                          <a:latin typeface="Nourd Bold"/>
                          <a:ea typeface="Nourd Bold"/>
                          <a:cs typeface="Nourd Bold"/>
                          <a:sym typeface="Nourd Bold"/>
                        </a:rPr>
                        <a:t>Boosting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0.7889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72871">
                <a:tc>
                  <a:txBody>
                    <a:bodyPr anchor="t" rtlCol="false"/>
                    <a:lstStyle/>
                    <a:p>
                      <a:pPr algn="ctr">
                        <a:lnSpc>
                          <a:spcPts val="2520"/>
                        </a:lnSpc>
                        <a:defRPr/>
                      </a:pPr>
                      <a:r>
                        <a:rPr lang="en-US" sz="1800" b="true">
                          <a:solidFill>
                            <a:srgbClr val="000000"/>
                          </a:solidFill>
                          <a:latin typeface="Nourd Bold"/>
                          <a:ea typeface="Nourd Bold"/>
                          <a:cs typeface="Nourd Bold"/>
                          <a:sym typeface="Nourd Bold"/>
                        </a:rPr>
                        <a:t>Boosting (Weighted)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0.7833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9454">
                <a:tc>
                  <a:txBody>
                    <a:bodyPr anchor="t" rtlCol="false"/>
                    <a:lstStyle/>
                    <a:p>
                      <a:pPr algn="ctr">
                        <a:lnSpc>
                          <a:spcPts val="2520"/>
                        </a:lnSpc>
                        <a:defRPr/>
                      </a:pPr>
                      <a:r>
                        <a:rPr lang="en-US" sz="1800" b="true">
                          <a:solidFill>
                            <a:srgbClr val="000000"/>
                          </a:solidFill>
                          <a:latin typeface="Nourd Bold"/>
                          <a:ea typeface="Nourd Bold"/>
                          <a:cs typeface="Nourd Bold"/>
                          <a:sym typeface="Nourd Bold"/>
                        </a:rPr>
                        <a:t>Random Forest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0.7698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56757">
                <a:tc>
                  <a:txBody>
                    <a:bodyPr anchor="t" rtlCol="false"/>
                    <a:lstStyle/>
                    <a:p>
                      <a:pPr algn="ctr">
                        <a:lnSpc>
                          <a:spcPts val="2520"/>
                        </a:lnSpc>
                        <a:defRPr/>
                      </a:pPr>
                      <a:r>
                        <a:rPr lang="en-US" sz="1800" b="true">
                          <a:solidFill>
                            <a:srgbClr val="000000"/>
                          </a:solidFill>
                          <a:latin typeface="Nourd Bold"/>
                          <a:ea typeface="Nourd Bold"/>
                          <a:cs typeface="Nourd Bold"/>
                          <a:sym typeface="Nourd Bold"/>
                        </a:rPr>
                        <a:t>MLP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0.7659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72871">
                <a:tc>
                  <a:txBody>
                    <a:bodyPr anchor="t" rtlCol="false"/>
                    <a:lstStyle/>
                    <a:p>
                      <a:pPr algn="ctr">
                        <a:lnSpc>
                          <a:spcPts val="2520"/>
                        </a:lnSpc>
                        <a:defRPr/>
                      </a:pPr>
                      <a:r>
                        <a:rPr lang="en-US" sz="1800" b="true">
                          <a:solidFill>
                            <a:srgbClr val="000000"/>
                          </a:solidFill>
                          <a:latin typeface="Nourd Bold"/>
                          <a:ea typeface="Nourd Bold"/>
                          <a:cs typeface="Nourd Bold"/>
                          <a:sym typeface="Nourd Bold"/>
                        </a:rPr>
                        <a:t>Logistic Regression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Nourd"/>
                          <a:ea typeface="Nourd"/>
                          <a:cs typeface="Nourd"/>
                          <a:sym typeface="Nourd"/>
                        </a:rPr>
                        <a:t>0.7505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56757">
                <a:tc>
                  <a:txBody>
                    <a:bodyPr anchor="t" rtlCol="false"/>
                    <a:lstStyle/>
                    <a:p>
                      <a:pPr algn="ctr">
                        <a:lnSpc>
                          <a:spcPts val="2380"/>
                        </a:lnSpc>
                        <a:defRPr/>
                      </a:pPr>
                      <a:r>
                        <a:rPr lang="en-US" sz="1700" b="true">
                          <a:solidFill>
                            <a:srgbClr val="000000"/>
                          </a:solidFill>
                          <a:latin typeface="Nourd Bold"/>
                          <a:ea typeface="Nourd Bold"/>
                          <a:cs typeface="Nourd Bold"/>
                          <a:sym typeface="Nourd Bold"/>
                        </a:rPr>
                        <a:t>LR (Lasso)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0.7457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56757">
                <a:tc>
                  <a:txBody>
                    <a:bodyPr anchor="t" rtlCol="false"/>
                    <a:lstStyle/>
                    <a:p>
                      <a:pPr algn="ctr">
                        <a:lnSpc>
                          <a:spcPts val="2520"/>
                        </a:lnSpc>
                        <a:defRPr/>
                      </a:pPr>
                      <a:r>
                        <a:rPr lang="en-US" sz="1800" b="true">
                          <a:solidFill>
                            <a:srgbClr val="000000"/>
                          </a:solidFill>
                          <a:latin typeface="Nourd Bold"/>
                          <a:ea typeface="Nourd Bold"/>
                          <a:cs typeface="Nourd Bold"/>
                          <a:sym typeface="Nourd Bold"/>
                        </a:rPr>
                        <a:t>LR (Ridge)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0.7449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Nourd"/>
                          <a:ea typeface="Nourd"/>
                          <a:cs typeface="Nourd"/>
                          <a:sym typeface="Nourd"/>
                        </a:rPr>
                        <a:t>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pSp>
        <p:nvGrpSpPr>
          <p:cNvPr name="Group 4" id="4"/>
          <p:cNvGrpSpPr/>
          <p:nvPr/>
        </p:nvGrpSpPr>
        <p:grpSpPr>
          <a:xfrm rot="0">
            <a:off x="269172" y="2434663"/>
            <a:ext cx="6983610" cy="1566287"/>
            <a:chOff x="0" y="0"/>
            <a:chExt cx="9311480" cy="2088382"/>
          </a:xfrm>
        </p:grpSpPr>
        <p:sp>
          <p:nvSpPr>
            <p:cNvPr name="TextBox 5" id="5"/>
            <p:cNvSpPr txBox="true"/>
            <p:nvPr/>
          </p:nvSpPr>
          <p:spPr>
            <a:xfrm rot="0">
              <a:off x="72927" y="408475"/>
              <a:ext cx="9238553" cy="1679907"/>
            </a:xfrm>
            <a:prstGeom prst="rect">
              <a:avLst/>
            </a:prstGeom>
          </p:spPr>
          <p:txBody>
            <a:bodyPr anchor="t" rtlCol="false" tIns="0" lIns="0" bIns="0" rIns="0">
              <a:spAutoFit/>
            </a:bodyPr>
            <a:lstStyle/>
            <a:p>
              <a:pPr algn="l">
                <a:lnSpc>
                  <a:spcPts val="3398"/>
                </a:lnSpc>
              </a:pPr>
              <a:r>
                <a:rPr lang="en-US" sz="2427">
                  <a:solidFill>
                    <a:srgbClr val="000000"/>
                  </a:solidFill>
                  <a:latin typeface="Source Sans Pro"/>
                  <a:ea typeface="Source Sans Pro"/>
                  <a:cs typeface="Source Sans Pro"/>
                  <a:sym typeface="Source Sans Pro"/>
                </a:rPr>
                <a:t>Whether a customer will file a claim (CS = 1) or not (CS = 0)</a:t>
              </a:r>
            </a:p>
            <a:p>
              <a:pPr algn="l">
                <a:lnSpc>
                  <a:spcPts val="3398"/>
                </a:lnSpc>
              </a:pPr>
              <a:r>
                <a:rPr lang="en-US" sz="2427">
                  <a:solidFill>
                    <a:srgbClr val="000000"/>
                  </a:solidFill>
                  <a:latin typeface="Source Sans Pro"/>
                  <a:ea typeface="Source Sans Pro"/>
                  <a:cs typeface="Source Sans Pro"/>
                  <a:sym typeface="Source Sans Pro"/>
                </a:rPr>
                <a:t>Binary classification problem using policyholder data</a:t>
              </a:r>
            </a:p>
          </p:txBody>
        </p:sp>
        <p:sp>
          <p:nvSpPr>
            <p:cNvPr name="TextBox 6" id="6"/>
            <p:cNvSpPr txBox="true"/>
            <p:nvPr/>
          </p:nvSpPr>
          <p:spPr>
            <a:xfrm rot="0">
              <a:off x="0" y="-47625"/>
              <a:ext cx="5713512" cy="493003"/>
            </a:xfrm>
            <a:prstGeom prst="rect">
              <a:avLst/>
            </a:prstGeom>
          </p:spPr>
          <p:txBody>
            <a:bodyPr anchor="t" rtlCol="false" tIns="0" lIns="0" bIns="0" rIns="0">
              <a:spAutoFit/>
            </a:bodyPr>
            <a:lstStyle/>
            <a:p>
              <a:pPr algn="l">
                <a:lnSpc>
                  <a:spcPts val="3113"/>
                </a:lnSpc>
              </a:pPr>
              <a:r>
                <a:rPr lang="en-US" b="true" sz="2224">
                  <a:solidFill>
                    <a:srgbClr val="F15846"/>
                  </a:solidFill>
                  <a:latin typeface="Nourd Bold"/>
                  <a:ea typeface="Nourd Bold"/>
                  <a:cs typeface="Nourd Bold"/>
                  <a:sym typeface="Nourd Bold"/>
                </a:rPr>
                <a:t>WHAT WE’RE PREDICTING</a:t>
              </a:r>
            </a:p>
          </p:txBody>
        </p:sp>
      </p:grpSp>
      <p:sp>
        <p:nvSpPr>
          <p:cNvPr name="TextBox 7" id="7"/>
          <p:cNvSpPr txBox="true"/>
          <p:nvPr/>
        </p:nvSpPr>
        <p:spPr>
          <a:xfrm rot="0">
            <a:off x="325733" y="4674094"/>
            <a:ext cx="7165287" cy="843211"/>
          </a:xfrm>
          <a:prstGeom prst="rect">
            <a:avLst/>
          </a:prstGeom>
        </p:spPr>
        <p:txBody>
          <a:bodyPr anchor="t" rtlCol="false" tIns="0" lIns="0" bIns="0" rIns="0">
            <a:spAutoFit/>
          </a:bodyPr>
          <a:lstStyle/>
          <a:p>
            <a:pPr algn="l">
              <a:lnSpc>
                <a:spcPts val="3398"/>
              </a:lnSpc>
            </a:pPr>
            <a:r>
              <a:rPr lang="en-US" sz="2427">
                <a:solidFill>
                  <a:srgbClr val="000000"/>
                </a:solidFill>
                <a:latin typeface="Source Sans Pro"/>
                <a:ea typeface="Source Sans Pro"/>
                <a:cs typeface="Source Sans Pro"/>
                <a:sym typeface="Source Sans Pro"/>
              </a:rPr>
              <a:t>Helps identify high-risk individuals before they file</a:t>
            </a:r>
          </a:p>
          <a:p>
            <a:pPr algn="l">
              <a:lnSpc>
                <a:spcPts val="3398"/>
              </a:lnSpc>
            </a:pPr>
            <a:r>
              <a:rPr lang="en-US" sz="2427">
                <a:solidFill>
                  <a:srgbClr val="000000"/>
                </a:solidFill>
                <a:latin typeface="Source Sans Pro"/>
                <a:ea typeface="Source Sans Pro"/>
                <a:cs typeface="Source Sans Pro"/>
                <a:sym typeface="Source Sans Pro"/>
              </a:rPr>
              <a:t>Supports underwrit</a:t>
            </a:r>
            <a:r>
              <a:rPr lang="en-US" sz="2427">
                <a:solidFill>
                  <a:srgbClr val="000000"/>
                </a:solidFill>
                <a:latin typeface="Source Sans Pro"/>
                <a:ea typeface="Source Sans Pro"/>
                <a:cs typeface="Source Sans Pro"/>
                <a:sym typeface="Source Sans Pro"/>
              </a:rPr>
              <a:t>ing and risk-based pricing decisions</a:t>
            </a:r>
          </a:p>
        </p:txBody>
      </p:sp>
      <p:sp>
        <p:nvSpPr>
          <p:cNvPr name="TextBox 8" id="8"/>
          <p:cNvSpPr txBox="true"/>
          <p:nvPr/>
        </p:nvSpPr>
        <p:spPr>
          <a:xfrm rot="0">
            <a:off x="269172" y="4332019"/>
            <a:ext cx="4431316" cy="381658"/>
          </a:xfrm>
          <a:prstGeom prst="rect">
            <a:avLst/>
          </a:prstGeom>
        </p:spPr>
        <p:txBody>
          <a:bodyPr anchor="t" rtlCol="false" tIns="0" lIns="0" bIns="0" rIns="0">
            <a:spAutoFit/>
          </a:bodyPr>
          <a:lstStyle/>
          <a:p>
            <a:pPr algn="l">
              <a:lnSpc>
                <a:spcPts val="3113"/>
              </a:lnSpc>
            </a:pPr>
            <a:r>
              <a:rPr lang="en-US" b="true" sz="2224">
                <a:solidFill>
                  <a:srgbClr val="F15846"/>
                </a:solidFill>
                <a:latin typeface="Nourd Bold"/>
                <a:ea typeface="Nourd Bold"/>
                <a:cs typeface="Nourd Bold"/>
                <a:sym typeface="Nourd Bold"/>
              </a:rPr>
              <a:t>WHY IT MATTERS</a:t>
            </a:r>
          </a:p>
        </p:txBody>
      </p:sp>
      <p:sp>
        <p:nvSpPr>
          <p:cNvPr name="TextBox 9" id="9"/>
          <p:cNvSpPr txBox="true"/>
          <p:nvPr/>
        </p:nvSpPr>
        <p:spPr>
          <a:xfrm rot="0">
            <a:off x="249037" y="6175189"/>
            <a:ext cx="7003745" cy="2138553"/>
          </a:xfrm>
          <a:prstGeom prst="rect">
            <a:avLst/>
          </a:prstGeom>
        </p:spPr>
        <p:txBody>
          <a:bodyPr anchor="t" rtlCol="false" tIns="0" lIns="0" bIns="0" rIns="0">
            <a:spAutoFit/>
          </a:bodyPr>
          <a:lstStyle/>
          <a:p>
            <a:pPr algn="l">
              <a:lnSpc>
                <a:spcPts val="3401"/>
              </a:lnSpc>
            </a:pPr>
            <a:r>
              <a:rPr lang="en-US" sz="2429">
                <a:solidFill>
                  <a:srgbClr val="000000"/>
                </a:solidFill>
                <a:latin typeface="Source Sans Pro"/>
                <a:ea typeface="Source Sans Pro"/>
                <a:cs typeface="Source Sans Pro"/>
                <a:sym typeface="Source Sans Pro"/>
              </a:rPr>
              <a:t>Tried 7 models: Boosting, Random Forest, MLP, Logistic Regression (and regularized versions)</a:t>
            </a:r>
          </a:p>
          <a:p>
            <a:pPr algn="l">
              <a:lnSpc>
                <a:spcPts val="3401"/>
              </a:lnSpc>
            </a:pPr>
            <a:r>
              <a:rPr lang="en-US" sz="2429">
                <a:solidFill>
                  <a:srgbClr val="000000"/>
                </a:solidFill>
                <a:latin typeface="Source Sans Pro"/>
                <a:ea typeface="Source Sans Pro"/>
                <a:cs typeface="Source Sans Pro"/>
                <a:sym typeface="Source Sans Pro"/>
              </a:rPr>
              <a:t>Used 5-fold cross-validat</a:t>
            </a:r>
            <a:r>
              <a:rPr lang="en-US" sz="2429">
                <a:solidFill>
                  <a:srgbClr val="000000"/>
                </a:solidFill>
                <a:latin typeface="Source Sans Pro"/>
                <a:ea typeface="Source Sans Pro"/>
                <a:cs typeface="Source Sans Pro"/>
                <a:sym typeface="Source Sans Pro"/>
              </a:rPr>
              <a:t>ion and ROC-AUC to evaluate performance</a:t>
            </a:r>
          </a:p>
          <a:p>
            <a:pPr algn="l">
              <a:lnSpc>
                <a:spcPts val="3401"/>
              </a:lnSpc>
            </a:pPr>
            <a:r>
              <a:rPr lang="en-US" sz="2429" b="true">
                <a:solidFill>
                  <a:srgbClr val="000000"/>
                </a:solidFill>
                <a:latin typeface="Source Sans Pro Bold"/>
                <a:ea typeface="Source Sans Pro Bold"/>
                <a:cs typeface="Source Sans Pro Bold"/>
                <a:sym typeface="Source Sans Pro Bold"/>
              </a:rPr>
              <a:t>Boosting</a:t>
            </a:r>
            <a:r>
              <a:rPr lang="en-US" sz="2429">
                <a:solidFill>
                  <a:srgbClr val="000000"/>
                </a:solidFill>
                <a:latin typeface="Source Sans Pro"/>
                <a:ea typeface="Source Sans Pro"/>
                <a:cs typeface="Source Sans Pro"/>
                <a:sym typeface="Source Sans Pro"/>
              </a:rPr>
              <a:t> achieved highest </a:t>
            </a:r>
            <a:r>
              <a:rPr lang="en-US" sz="2429" b="true">
                <a:solidFill>
                  <a:srgbClr val="000000"/>
                </a:solidFill>
                <a:latin typeface="Source Sans Pro Bold"/>
                <a:ea typeface="Source Sans Pro Bold"/>
                <a:cs typeface="Source Sans Pro Bold"/>
                <a:sym typeface="Source Sans Pro Bold"/>
              </a:rPr>
              <a:t>ROC-AUC: 0.7889</a:t>
            </a:r>
          </a:p>
        </p:txBody>
      </p:sp>
      <p:sp>
        <p:nvSpPr>
          <p:cNvPr name="TextBox 10" id="10"/>
          <p:cNvSpPr txBox="true"/>
          <p:nvPr/>
        </p:nvSpPr>
        <p:spPr>
          <a:xfrm rot="0">
            <a:off x="249037" y="5850681"/>
            <a:ext cx="4331412" cy="381658"/>
          </a:xfrm>
          <a:prstGeom prst="rect">
            <a:avLst/>
          </a:prstGeom>
        </p:spPr>
        <p:txBody>
          <a:bodyPr anchor="t" rtlCol="false" tIns="0" lIns="0" bIns="0" rIns="0">
            <a:spAutoFit/>
          </a:bodyPr>
          <a:lstStyle/>
          <a:p>
            <a:pPr algn="l">
              <a:lnSpc>
                <a:spcPts val="3113"/>
              </a:lnSpc>
            </a:pPr>
            <a:r>
              <a:rPr lang="en-US" b="true" sz="2224">
                <a:solidFill>
                  <a:srgbClr val="F15846"/>
                </a:solidFill>
                <a:latin typeface="Nourd Bold"/>
                <a:ea typeface="Nourd Bold"/>
                <a:cs typeface="Nourd Bold"/>
                <a:sym typeface="Nourd Bold"/>
              </a:rPr>
              <a:t>MODELING STRATEGY</a:t>
            </a:r>
          </a:p>
        </p:txBody>
      </p:sp>
      <p:grpSp>
        <p:nvGrpSpPr>
          <p:cNvPr name="Group 11" id="11"/>
          <p:cNvGrpSpPr/>
          <p:nvPr/>
        </p:nvGrpSpPr>
        <p:grpSpPr>
          <a:xfrm rot="0">
            <a:off x="269172" y="8826508"/>
            <a:ext cx="1752385" cy="431792"/>
            <a:chOff x="0" y="0"/>
            <a:chExt cx="2336513" cy="575723"/>
          </a:xfrm>
        </p:grpSpPr>
        <p:grpSp>
          <p:nvGrpSpPr>
            <p:cNvPr name="Group 12" id="12"/>
            <p:cNvGrpSpPr/>
            <p:nvPr/>
          </p:nvGrpSpPr>
          <p:grpSpPr>
            <a:xfrm rot="0">
              <a:off x="0" y="0"/>
              <a:ext cx="575723" cy="575723"/>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grpSp>
          <p:nvGrpSpPr>
            <p:cNvPr name="Group 14" id="14"/>
            <p:cNvGrpSpPr/>
            <p:nvPr/>
          </p:nvGrpSpPr>
          <p:grpSpPr>
            <a:xfrm rot="0">
              <a:off x="880266" y="0"/>
              <a:ext cx="575723" cy="575723"/>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grpSp>
          <p:nvGrpSpPr>
            <p:cNvPr name="Group 16" id="16"/>
            <p:cNvGrpSpPr/>
            <p:nvPr/>
          </p:nvGrpSpPr>
          <p:grpSpPr>
            <a:xfrm rot="0">
              <a:off x="1760790" y="0"/>
              <a:ext cx="575723" cy="575723"/>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grpSp>
      <p:grpSp>
        <p:nvGrpSpPr>
          <p:cNvPr name="Group 18" id="18"/>
          <p:cNvGrpSpPr/>
          <p:nvPr/>
        </p:nvGrpSpPr>
        <p:grpSpPr>
          <a:xfrm rot="0">
            <a:off x="8452713" y="1443428"/>
            <a:ext cx="1752385" cy="431792"/>
            <a:chOff x="0" y="0"/>
            <a:chExt cx="2336513" cy="575723"/>
          </a:xfrm>
        </p:grpSpPr>
        <p:grpSp>
          <p:nvGrpSpPr>
            <p:cNvPr name="Group 19" id="19"/>
            <p:cNvGrpSpPr/>
            <p:nvPr/>
          </p:nvGrpSpPr>
          <p:grpSpPr>
            <a:xfrm rot="0">
              <a:off x="0" y="0"/>
              <a:ext cx="575723" cy="575723"/>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grpSp>
          <p:nvGrpSpPr>
            <p:cNvPr name="Group 21" id="21"/>
            <p:cNvGrpSpPr/>
            <p:nvPr/>
          </p:nvGrpSpPr>
          <p:grpSpPr>
            <a:xfrm rot="0">
              <a:off x="880266" y="0"/>
              <a:ext cx="575723" cy="575723"/>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grpSp>
          <p:nvGrpSpPr>
            <p:cNvPr name="Group 23" id="23"/>
            <p:cNvGrpSpPr/>
            <p:nvPr/>
          </p:nvGrpSpPr>
          <p:grpSpPr>
            <a:xfrm rot="0">
              <a:off x="1760790" y="0"/>
              <a:ext cx="575723" cy="575723"/>
              <a:chOff x="0" y="0"/>
              <a:chExt cx="6350000" cy="6350000"/>
            </a:xfrm>
          </p:grpSpPr>
          <p:sp>
            <p:nvSpPr>
              <p:cNvPr name="Freeform 24" id="2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grpSp>
      <p:grpSp>
        <p:nvGrpSpPr>
          <p:cNvPr name="Group 25" id="25"/>
          <p:cNvGrpSpPr/>
          <p:nvPr/>
        </p:nvGrpSpPr>
        <p:grpSpPr>
          <a:xfrm rot="0">
            <a:off x="16879890" y="-8350505"/>
            <a:ext cx="14248811" cy="14248811"/>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pic>
        <p:nvPicPr>
          <p:cNvPr name="Picture 27" id="27"/>
          <p:cNvPicPr>
            <a:picLocks noChangeAspect="true"/>
          </p:cNvPicPr>
          <p:nvPr/>
        </p:nvPicPr>
        <p:blipFill>
          <a:blip r:embed="rId3"/>
          <a:stretch>
            <a:fillRect/>
          </a:stretch>
        </p:blipFill>
        <p:spPr>
          <a:xfrm rot="0">
            <a:off x="13420381" y="2903822"/>
            <a:ext cx="4781617" cy="5543951"/>
          </a:xfrm>
          <a:prstGeom prst="rect">
            <a:avLst/>
          </a:prstGeom>
        </p:spPr>
      </p:pic>
      <p:sp>
        <p:nvSpPr>
          <p:cNvPr name="TextBox 28" id="28"/>
          <p:cNvSpPr txBox="true"/>
          <p:nvPr/>
        </p:nvSpPr>
        <p:spPr>
          <a:xfrm rot="0">
            <a:off x="14046312" y="2396563"/>
            <a:ext cx="3529754" cy="1234440"/>
          </a:xfrm>
          <a:prstGeom prst="rect">
            <a:avLst/>
          </a:prstGeom>
        </p:spPr>
        <p:txBody>
          <a:bodyPr anchor="t" rtlCol="false" tIns="0" lIns="0" bIns="0" rIns="0">
            <a:spAutoFit/>
          </a:bodyPr>
          <a:lstStyle/>
          <a:p>
            <a:pPr algn="ctr">
              <a:lnSpc>
                <a:spcPts val="3359"/>
              </a:lnSpc>
            </a:pPr>
            <a:r>
              <a:rPr lang="en-US" sz="2400" b="true">
                <a:solidFill>
                  <a:srgbClr val="000000"/>
                </a:solidFill>
                <a:latin typeface="Nourd Bold"/>
                <a:ea typeface="Nourd Bold"/>
                <a:cs typeface="Nourd Bold"/>
                <a:sym typeface="Nourd Bold"/>
              </a:rPr>
              <a:t>Class Distribution:</a:t>
            </a:r>
          </a:p>
          <a:p>
            <a:pPr algn="ctr">
              <a:lnSpc>
                <a:spcPts val="3359"/>
              </a:lnSpc>
            </a:pPr>
            <a:r>
              <a:rPr lang="en-US" sz="2400" b="true">
                <a:solidFill>
                  <a:srgbClr val="000000"/>
                </a:solidFill>
                <a:latin typeface="Nourd Bold"/>
                <a:ea typeface="Nourd Bold"/>
                <a:cs typeface="Nourd Bold"/>
                <a:sym typeface="Nourd Bold"/>
              </a:rPr>
              <a:t> Claim vs. No Claim</a:t>
            </a:r>
          </a:p>
          <a:p>
            <a:pPr algn="l">
              <a:lnSpc>
                <a:spcPts val="3359"/>
              </a:lnSpc>
            </a:pPr>
          </a:p>
        </p:txBody>
      </p:sp>
      <p:sp>
        <p:nvSpPr>
          <p:cNvPr name="TextBox 29" id="29"/>
          <p:cNvSpPr txBox="true"/>
          <p:nvPr/>
        </p:nvSpPr>
        <p:spPr>
          <a:xfrm rot="0">
            <a:off x="13882377" y="8199192"/>
            <a:ext cx="4114593" cy="630555"/>
          </a:xfrm>
          <a:prstGeom prst="rect">
            <a:avLst/>
          </a:prstGeom>
        </p:spPr>
        <p:txBody>
          <a:bodyPr anchor="t" rtlCol="false" tIns="0" lIns="0" bIns="0" rIns="0">
            <a:spAutoFit/>
          </a:bodyPr>
          <a:lstStyle/>
          <a:p>
            <a:pPr algn="l">
              <a:lnSpc>
                <a:spcPts val="2520"/>
              </a:lnSpc>
            </a:pPr>
            <a:r>
              <a:rPr lang="en-US" sz="1800">
                <a:solidFill>
                  <a:srgbClr val="000000"/>
                </a:solidFill>
                <a:latin typeface="Source Sans Pro"/>
                <a:ea typeface="Source Sans Pro"/>
                <a:cs typeface="Source Sans Pro"/>
                <a:sym typeface="Source Sans Pro"/>
              </a:rPr>
              <a:t>Highly imbalanced data — most customers do</a:t>
            </a:r>
            <a:r>
              <a:rPr lang="en-US" sz="1800">
                <a:solidFill>
                  <a:srgbClr val="000000"/>
                </a:solidFill>
                <a:latin typeface="Source Sans Pro"/>
                <a:ea typeface="Source Sans Pro"/>
                <a:cs typeface="Source Sans Pro"/>
                <a:sym typeface="Source Sans Pro"/>
              </a:rPr>
              <a:t>n’t file claims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1968964" y="2216776"/>
          <a:ext cx="5290336" cy="3581400"/>
        </p:xfrm>
        <a:graphic>
          <a:graphicData uri="http://schemas.openxmlformats.org/drawingml/2006/table">
            <a:tbl>
              <a:tblPr/>
              <a:tblGrid>
                <a:gridCol w="1333570"/>
                <a:gridCol w="2030063"/>
                <a:gridCol w="1926704"/>
              </a:tblGrid>
              <a:tr h="1193800">
                <a:tc>
                  <a:txBody>
                    <a:bodyPr anchor="t" rtlCol="false"/>
                    <a:lstStyle/>
                    <a:p>
                      <a:pPr algn="ctr">
                        <a:lnSpc>
                          <a:spcPts val="29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940"/>
                        </a:lnSpc>
                        <a:defRPr/>
                      </a:pPr>
                      <a:r>
                        <a:rPr lang="en-US" sz="2100" b="true">
                          <a:solidFill>
                            <a:srgbClr val="FFFFFF"/>
                          </a:solidFill>
                          <a:latin typeface="Nourd Bold"/>
                          <a:ea typeface="Nourd Bold"/>
                          <a:cs typeface="Nourd Bold"/>
                          <a:sym typeface="Nourd Bold"/>
                        </a:rPr>
                        <a:t>Predicted No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940"/>
                        </a:lnSpc>
                        <a:defRPr/>
                      </a:pPr>
                      <a:r>
                        <a:rPr lang="en-US" sz="2100" b="true">
                          <a:solidFill>
                            <a:srgbClr val="FFFFFF"/>
                          </a:solidFill>
                          <a:latin typeface="Nourd Bold"/>
                          <a:ea typeface="Nourd Bold"/>
                          <a:cs typeface="Nourd Bold"/>
                          <a:sym typeface="Nourd Bold"/>
                        </a:rPr>
                        <a:t>Predicted Yes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r>
              <a:tr h="1193800">
                <a:tc>
                  <a:txBody>
                    <a:bodyPr anchor="t" rtlCol="false"/>
                    <a:lstStyle/>
                    <a:p>
                      <a:pPr algn="ctr">
                        <a:lnSpc>
                          <a:spcPts val="2940"/>
                        </a:lnSpc>
                        <a:defRPr/>
                      </a:pPr>
                      <a:r>
                        <a:rPr lang="en-US" sz="2100" b="true">
                          <a:solidFill>
                            <a:srgbClr val="000000"/>
                          </a:solidFill>
                          <a:latin typeface="Nourd Bold"/>
                          <a:ea typeface="Nourd Bold"/>
                          <a:cs typeface="Nourd Bold"/>
                          <a:sym typeface="Nourd Bold"/>
                        </a:rPr>
                        <a:t>Actual 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Nourd"/>
                          <a:ea typeface="Nourd"/>
                          <a:cs typeface="Nourd"/>
                          <a:sym typeface="Nourd"/>
                        </a:rPr>
                        <a:t>6622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Nourd"/>
                          <a:ea typeface="Nourd"/>
                          <a:cs typeface="Nourd"/>
                          <a:sym typeface="Nourd"/>
                        </a:rPr>
                        <a:t>39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93800">
                <a:tc>
                  <a:txBody>
                    <a:bodyPr anchor="t" rtlCol="false"/>
                    <a:lstStyle/>
                    <a:p>
                      <a:pPr algn="ctr">
                        <a:lnSpc>
                          <a:spcPts val="2940"/>
                        </a:lnSpc>
                        <a:defRPr/>
                      </a:pPr>
                      <a:r>
                        <a:rPr lang="en-US" sz="2100" b="true">
                          <a:solidFill>
                            <a:srgbClr val="000000"/>
                          </a:solidFill>
                          <a:latin typeface="Nourd Bold"/>
                          <a:ea typeface="Nourd Bold"/>
                          <a:cs typeface="Nourd Bold"/>
                          <a:sym typeface="Nourd Bold"/>
                        </a:rPr>
                        <a:t>Actual Yes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Nourd"/>
                          <a:ea typeface="Nourd"/>
                          <a:cs typeface="Nourd"/>
                          <a:sym typeface="Nourd"/>
                        </a:rPr>
                        <a:t>777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Nourd"/>
                          <a:ea typeface="Nourd"/>
                          <a:cs typeface="Nourd"/>
                          <a:sym typeface="Nourd"/>
                        </a:rPr>
                        <a:t>53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537463" y="680402"/>
            <a:ext cx="17213074" cy="629920"/>
          </a:xfrm>
          <a:prstGeom prst="rect">
            <a:avLst/>
          </a:prstGeom>
        </p:spPr>
        <p:txBody>
          <a:bodyPr anchor="t" rtlCol="false" tIns="0" lIns="0" bIns="0" rIns="0">
            <a:spAutoFit/>
          </a:bodyPr>
          <a:lstStyle/>
          <a:p>
            <a:pPr algn="l">
              <a:lnSpc>
                <a:spcPts val="5179"/>
              </a:lnSpc>
              <a:spcBef>
                <a:spcPct val="0"/>
              </a:spcBef>
            </a:pPr>
            <a:r>
              <a:rPr lang="en-US" b="true" sz="3699">
                <a:solidFill>
                  <a:srgbClr val="000000"/>
                </a:solidFill>
                <a:latin typeface="Nourd Bold"/>
                <a:ea typeface="Nourd Bold"/>
                <a:cs typeface="Nourd Bold"/>
                <a:sym typeface="Nourd Bold"/>
              </a:rPr>
              <a:t>Final </a:t>
            </a:r>
            <a:r>
              <a:rPr lang="en-US" b="true" sz="3699">
                <a:solidFill>
                  <a:srgbClr val="000000"/>
                </a:solidFill>
                <a:latin typeface="Nourd Bold"/>
                <a:ea typeface="Nourd Bold"/>
                <a:cs typeface="Nourd Bold"/>
                <a:sym typeface="Nourd Bold"/>
              </a:rPr>
              <a:t>CLASSIFIER OUTPUT–PRECISION, RECALL &amp; RISK PATTERNS</a:t>
            </a:r>
          </a:p>
        </p:txBody>
      </p:sp>
      <p:sp>
        <p:nvSpPr>
          <p:cNvPr name="TextBox 4" id="4"/>
          <p:cNvSpPr txBox="true"/>
          <p:nvPr/>
        </p:nvSpPr>
        <p:spPr>
          <a:xfrm rot="0">
            <a:off x="12818560" y="1697877"/>
            <a:ext cx="3591144"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Nourd Bold"/>
                <a:ea typeface="Nourd Bold"/>
                <a:cs typeface="Nourd Bold"/>
                <a:sym typeface="Nourd Bold"/>
              </a:rPr>
              <a:t>Confusion matrix</a:t>
            </a:r>
          </a:p>
        </p:txBody>
      </p:sp>
      <p:graphicFrame>
        <p:nvGraphicFramePr>
          <p:cNvPr name="Table 5" id="5"/>
          <p:cNvGraphicFramePr>
            <a:graphicFrameLocks noGrp="true"/>
          </p:cNvGraphicFramePr>
          <p:nvPr/>
        </p:nvGraphicFramePr>
        <p:xfrm>
          <a:off x="2999506" y="2219393"/>
          <a:ext cx="7315200" cy="4119083"/>
        </p:xfrm>
        <a:graphic>
          <a:graphicData uri="http://schemas.openxmlformats.org/drawingml/2006/table">
            <a:tbl>
              <a:tblPr/>
              <a:tblGrid>
                <a:gridCol w="2438400"/>
                <a:gridCol w="2438400"/>
                <a:gridCol w="2438400"/>
              </a:tblGrid>
              <a:tr h="1028690">
                <a:tc>
                  <a:txBody>
                    <a:bodyPr anchor="t" rtlCol="false"/>
                    <a:lstStyle/>
                    <a:p>
                      <a:pPr algn="ctr">
                        <a:lnSpc>
                          <a:spcPts val="2940"/>
                        </a:lnSpc>
                        <a:defRPr/>
                      </a:pPr>
                      <a:r>
                        <a:rPr lang="en-US" sz="2100" b="true">
                          <a:solidFill>
                            <a:srgbClr val="FFFFFF"/>
                          </a:solidFill>
                          <a:latin typeface="Nourd Bold"/>
                          <a:ea typeface="Nourd Bold"/>
                          <a:cs typeface="Nourd Bold"/>
                          <a:sym typeface="Nourd Bold"/>
                        </a:rPr>
                        <a:t>Metric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940"/>
                        </a:lnSpc>
                        <a:defRPr/>
                      </a:pPr>
                      <a:r>
                        <a:rPr lang="en-US" sz="2100" b="true">
                          <a:solidFill>
                            <a:srgbClr val="FFFFFF"/>
                          </a:solidFill>
                          <a:latin typeface="Nourd Bold"/>
                          <a:ea typeface="Nourd Bold"/>
                          <a:cs typeface="Nourd Bold"/>
                          <a:sym typeface="Nourd Bold"/>
                        </a:rPr>
                        <a:t>Class 0 (No)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c>
                  <a:txBody>
                    <a:bodyPr anchor="t" rtlCol="false"/>
                    <a:lstStyle/>
                    <a:p>
                      <a:pPr algn="ctr">
                        <a:lnSpc>
                          <a:spcPts val="2940"/>
                        </a:lnSpc>
                        <a:defRPr/>
                      </a:pPr>
                      <a:r>
                        <a:rPr lang="en-US" sz="2100" b="true">
                          <a:solidFill>
                            <a:srgbClr val="FFFFFF"/>
                          </a:solidFill>
                          <a:latin typeface="Nourd Bold"/>
                          <a:ea typeface="Nourd Bold"/>
                          <a:cs typeface="Nourd Bold"/>
                          <a:sym typeface="Nourd Bold"/>
                        </a:rPr>
                        <a:t>Class 1 (Yes)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15846"/>
                    </a:solidFill>
                  </a:tcPr>
                </a:tc>
              </a:tr>
              <a:tr h="817184">
                <a:tc>
                  <a:txBody>
                    <a:bodyPr anchor="t" rtlCol="false"/>
                    <a:lstStyle/>
                    <a:p>
                      <a:pPr algn="ctr">
                        <a:lnSpc>
                          <a:spcPts val="2940"/>
                        </a:lnSpc>
                        <a:defRPr/>
                      </a:pPr>
                      <a:r>
                        <a:rPr lang="en-US" sz="2100" b="true">
                          <a:solidFill>
                            <a:srgbClr val="000000"/>
                          </a:solidFill>
                          <a:latin typeface="Nourd Bold"/>
                          <a:ea typeface="Nourd Bold"/>
                          <a:cs typeface="Nourd Bold"/>
                          <a:sym typeface="Nourd Bold"/>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Nourd Bold"/>
                          <a:ea typeface="Nourd Bold"/>
                          <a:cs typeface="Nourd Bold"/>
                          <a:sym typeface="Nourd Bold"/>
                        </a:rPr>
                        <a:t>0.89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Nourd Bold"/>
                          <a:ea typeface="Nourd Bold"/>
                          <a:cs typeface="Nourd Bold"/>
                          <a:sym typeface="Nourd Bold"/>
                        </a:rPr>
                        <a:t>0.58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44519">
                <a:tc>
                  <a:txBody>
                    <a:bodyPr anchor="t" rtlCol="false"/>
                    <a:lstStyle/>
                    <a:p>
                      <a:pPr algn="ctr">
                        <a:lnSpc>
                          <a:spcPts val="2940"/>
                        </a:lnSpc>
                        <a:defRPr/>
                      </a:pPr>
                      <a:r>
                        <a:rPr lang="en-US" sz="2100" b="true">
                          <a:solidFill>
                            <a:srgbClr val="000000"/>
                          </a:solidFill>
                          <a:latin typeface="Nourd Bold"/>
                          <a:ea typeface="Nourd Bold"/>
                          <a:cs typeface="Nourd Bold"/>
                          <a:sym typeface="Nourd Bold"/>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Nourd"/>
                          <a:ea typeface="Nourd"/>
                          <a:cs typeface="Nourd"/>
                          <a:sym typeface="Nourd"/>
                        </a:rPr>
                        <a:t>0.99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Nourd"/>
                          <a:ea typeface="Nourd"/>
                          <a:cs typeface="Nourd"/>
                          <a:sym typeface="Nourd"/>
                        </a:rPr>
                        <a:t>0.06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690">
                <a:tc>
                  <a:txBody>
                    <a:bodyPr anchor="t" rtlCol="false"/>
                    <a:lstStyle/>
                    <a:p>
                      <a:pPr algn="ctr">
                        <a:lnSpc>
                          <a:spcPts val="2940"/>
                        </a:lnSpc>
                        <a:defRPr/>
                      </a:pPr>
                      <a:r>
                        <a:rPr lang="en-US" sz="2100" b="true">
                          <a:solidFill>
                            <a:srgbClr val="000000"/>
                          </a:solidFill>
                          <a:latin typeface="Nourd Bold"/>
                          <a:ea typeface="Nourd Bold"/>
                          <a:cs typeface="Nourd Bold"/>
                          <a:sym typeface="Nourd Bold"/>
                        </a:rPr>
                        <a:t>F1-Score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Nourd"/>
                          <a:ea typeface="Nourd"/>
                          <a:cs typeface="Nourd"/>
                          <a:sym typeface="Nourd"/>
                        </a:rPr>
                        <a:t>0.94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Nourd"/>
                          <a:ea typeface="Nourd"/>
                          <a:cs typeface="Nourd"/>
                          <a:sym typeface="Nourd"/>
                        </a:rPr>
                        <a:t>0.11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4673673" y="1697877"/>
            <a:ext cx="3966865"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Nourd Bold"/>
                <a:ea typeface="Nourd Bold"/>
                <a:cs typeface="Nourd Bold"/>
                <a:sym typeface="Nourd Bold"/>
              </a:rPr>
              <a:t>CLASSIFICATION REPORT</a:t>
            </a:r>
          </a:p>
        </p:txBody>
      </p:sp>
      <p:sp>
        <p:nvSpPr>
          <p:cNvPr name="TextBox 7" id="7"/>
          <p:cNvSpPr txBox="true"/>
          <p:nvPr/>
        </p:nvSpPr>
        <p:spPr>
          <a:xfrm rot="0">
            <a:off x="2999506" y="6548025"/>
            <a:ext cx="3918235" cy="396240"/>
          </a:xfrm>
          <a:prstGeom prst="rect">
            <a:avLst/>
          </a:prstGeom>
        </p:spPr>
        <p:txBody>
          <a:bodyPr anchor="t" rtlCol="false" tIns="0" lIns="0" bIns="0" rIns="0">
            <a:spAutoFit/>
          </a:bodyPr>
          <a:lstStyle/>
          <a:p>
            <a:pPr algn="l">
              <a:lnSpc>
                <a:spcPts val="3359"/>
              </a:lnSpc>
              <a:spcBef>
                <a:spcPct val="0"/>
              </a:spcBef>
            </a:pPr>
            <a:r>
              <a:rPr lang="en-US" b="true" sz="2400">
                <a:solidFill>
                  <a:srgbClr val="F15846"/>
                </a:solidFill>
                <a:latin typeface="Nourd Bold"/>
                <a:ea typeface="Nourd Bold"/>
                <a:cs typeface="Nourd Bold"/>
                <a:sym typeface="Nourd Bold"/>
              </a:rPr>
              <a:t>KEY BUSINESS INSIGHT</a:t>
            </a:r>
          </a:p>
        </p:txBody>
      </p:sp>
      <p:sp>
        <p:nvSpPr>
          <p:cNvPr name="TextBox 8" id="8"/>
          <p:cNvSpPr txBox="true"/>
          <p:nvPr/>
        </p:nvSpPr>
        <p:spPr>
          <a:xfrm rot="0">
            <a:off x="2999506" y="6963315"/>
            <a:ext cx="7822877" cy="29203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Model is highly precise when predicting claims</a:t>
            </a:r>
          </a:p>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Low recall means only a small subset of actual claimants are flagged</a:t>
            </a:r>
          </a:p>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U</a:t>
            </a:r>
            <a:r>
              <a:rPr lang="en-US" sz="2400">
                <a:solidFill>
                  <a:srgbClr val="000000"/>
                </a:solidFill>
                <a:latin typeface="Source Sans Pro"/>
                <a:ea typeface="Source Sans Pro"/>
                <a:cs typeface="Source Sans Pro"/>
                <a:sym typeface="Source Sans Pro"/>
              </a:rPr>
              <a:t>seful for identifying high-risk customers for manual review</a:t>
            </a:r>
          </a:p>
          <a:p>
            <a:pPr algn="l" marL="518160" indent="-259080" lvl="1">
              <a:lnSpc>
                <a:spcPts val="3359"/>
              </a:lnSpc>
              <a:spcBef>
                <a:spcPct val="0"/>
              </a:spcBef>
              <a:buFont typeface="Arial"/>
              <a:buChar char="•"/>
            </a:pPr>
            <a:r>
              <a:rPr lang="en-US" sz="2400">
                <a:solidFill>
                  <a:srgbClr val="000000"/>
                </a:solidFill>
                <a:latin typeface="Source Sans Pro"/>
                <a:ea typeface="Source Sans Pro"/>
                <a:cs typeface="Source Sans Pro"/>
                <a:sym typeface="Source Sans Pro"/>
              </a:rPr>
              <a:t>Reduces false positives, supports efficient underwriting focus</a:t>
            </a:r>
          </a:p>
        </p:txBody>
      </p:sp>
      <p:sp>
        <p:nvSpPr>
          <p:cNvPr name="Freeform 9" id="9"/>
          <p:cNvSpPr/>
          <p:nvPr/>
        </p:nvSpPr>
        <p:spPr>
          <a:xfrm flipH="false" flipV="false" rot="0">
            <a:off x="11190360" y="6150601"/>
            <a:ext cx="6068940" cy="3641364"/>
          </a:xfrm>
          <a:custGeom>
            <a:avLst/>
            <a:gdLst/>
            <a:ahLst/>
            <a:cxnLst/>
            <a:rect r="r" b="b" t="t" l="l"/>
            <a:pathLst>
              <a:path h="3641364" w="6068940">
                <a:moveTo>
                  <a:pt x="0" y="0"/>
                </a:moveTo>
                <a:lnTo>
                  <a:pt x="6068940" y="0"/>
                </a:lnTo>
                <a:lnTo>
                  <a:pt x="6068940" y="3641364"/>
                </a:lnTo>
                <a:lnTo>
                  <a:pt x="0" y="36413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2906655" y="-1191798"/>
            <a:ext cx="14248811" cy="14248811"/>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2072" y="1028700"/>
            <a:ext cx="7674102" cy="8229600"/>
          </a:xfrm>
          <a:custGeom>
            <a:avLst/>
            <a:gdLst/>
            <a:ahLst/>
            <a:cxnLst/>
            <a:rect r="r" b="b" t="t" l="l"/>
            <a:pathLst>
              <a:path h="8229600" w="7674102">
                <a:moveTo>
                  <a:pt x="0" y="0"/>
                </a:moveTo>
                <a:lnTo>
                  <a:pt x="7674102" y="0"/>
                </a:lnTo>
                <a:lnTo>
                  <a:pt x="7674102" y="8229600"/>
                </a:lnTo>
                <a:lnTo>
                  <a:pt x="0" y="82296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412312" y="1807605"/>
            <a:ext cx="932927" cy="1262845"/>
          </a:xfrm>
          <a:custGeom>
            <a:avLst/>
            <a:gdLst/>
            <a:ahLst/>
            <a:cxnLst/>
            <a:rect r="r" b="b" t="t" l="l"/>
            <a:pathLst>
              <a:path h="1262845" w="932927">
                <a:moveTo>
                  <a:pt x="0" y="0"/>
                </a:moveTo>
                <a:lnTo>
                  <a:pt x="932927" y="0"/>
                </a:lnTo>
                <a:lnTo>
                  <a:pt x="932927" y="1262846"/>
                </a:lnTo>
                <a:lnTo>
                  <a:pt x="0" y="1262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651008" y="1678785"/>
            <a:ext cx="1835346" cy="1976146"/>
          </a:xfrm>
          <a:custGeom>
            <a:avLst/>
            <a:gdLst/>
            <a:ahLst/>
            <a:cxnLst/>
            <a:rect r="r" b="b" t="t" l="l"/>
            <a:pathLst>
              <a:path h="1976146" w="1835346">
                <a:moveTo>
                  <a:pt x="0" y="0"/>
                </a:moveTo>
                <a:lnTo>
                  <a:pt x="1835346" y="0"/>
                </a:lnTo>
                <a:lnTo>
                  <a:pt x="1835346" y="1976146"/>
                </a:lnTo>
                <a:lnTo>
                  <a:pt x="0" y="19761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313818" y="6393610"/>
            <a:ext cx="1556133" cy="1552242"/>
          </a:xfrm>
          <a:custGeom>
            <a:avLst/>
            <a:gdLst/>
            <a:ahLst/>
            <a:cxnLst/>
            <a:rect r="r" b="b" t="t" l="l"/>
            <a:pathLst>
              <a:path h="1552242" w="1556133">
                <a:moveTo>
                  <a:pt x="0" y="0"/>
                </a:moveTo>
                <a:lnTo>
                  <a:pt x="1556133" y="0"/>
                </a:lnTo>
                <a:lnTo>
                  <a:pt x="1556133" y="1552242"/>
                </a:lnTo>
                <a:lnTo>
                  <a:pt x="0" y="15522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5579899" y="6522538"/>
            <a:ext cx="1966837" cy="1189936"/>
          </a:xfrm>
          <a:custGeom>
            <a:avLst/>
            <a:gdLst/>
            <a:ahLst/>
            <a:cxnLst/>
            <a:rect r="r" b="b" t="t" l="l"/>
            <a:pathLst>
              <a:path h="1189936" w="1966837">
                <a:moveTo>
                  <a:pt x="0" y="0"/>
                </a:moveTo>
                <a:lnTo>
                  <a:pt x="1966837" y="0"/>
                </a:lnTo>
                <a:lnTo>
                  <a:pt x="1966837" y="1189936"/>
                </a:lnTo>
                <a:lnTo>
                  <a:pt x="0" y="11899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7" id="7"/>
          <p:cNvSpPr txBox="true"/>
          <p:nvPr/>
        </p:nvSpPr>
        <p:spPr>
          <a:xfrm rot="0">
            <a:off x="8872449" y="1019643"/>
            <a:ext cx="6855819" cy="2601594"/>
          </a:xfrm>
          <a:prstGeom prst="rect">
            <a:avLst/>
          </a:prstGeom>
        </p:spPr>
        <p:txBody>
          <a:bodyPr anchor="t" rtlCol="false" tIns="0" lIns="0" bIns="0" rIns="0">
            <a:spAutoFit/>
          </a:bodyPr>
          <a:lstStyle/>
          <a:p>
            <a:pPr algn="l">
              <a:lnSpc>
                <a:spcPts val="5179"/>
              </a:lnSpc>
            </a:pPr>
            <a:r>
              <a:rPr lang="en-US" sz="3699" b="true">
                <a:solidFill>
                  <a:srgbClr val="000000"/>
                </a:solidFill>
                <a:latin typeface="Nourd Bold"/>
                <a:ea typeface="Nourd Bold"/>
                <a:cs typeface="Nourd Bold"/>
                <a:sym typeface="Nourd Bold"/>
              </a:rPr>
              <a:t>WHAT DRIVES RISK? INTERPRETING KEY PREDICTORS</a:t>
            </a:r>
          </a:p>
          <a:p>
            <a:pPr algn="l">
              <a:lnSpc>
                <a:spcPts val="5180"/>
              </a:lnSpc>
            </a:pPr>
          </a:p>
        </p:txBody>
      </p:sp>
      <p:sp>
        <p:nvSpPr>
          <p:cNvPr name="TextBox 8" id="8"/>
          <p:cNvSpPr txBox="true"/>
          <p:nvPr/>
        </p:nvSpPr>
        <p:spPr>
          <a:xfrm rot="0">
            <a:off x="5289625" y="3121853"/>
            <a:ext cx="2797863" cy="727710"/>
          </a:xfrm>
          <a:prstGeom prst="rect">
            <a:avLst/>
          </a:prstGeom>
        </p:spPr>
        <p:txBody>
          <a:bodyPr anchor="t" rtlCol="false" tIns="0" lIns="0" bIns="0" rIns="0">
            <a:spAutoFit/>
          </a:bodyPr>
          <a:lstStyle/>
          <a:p>
            <a:pPr algn="ctr">
              <a:lnSpc>
                <a:spcPts val="2940"/>
              </a:lnSpc>
            </a:pPr>
            <a:r>
              <a:rPr lang="en-US" b="true" sz="2100">
                <a:solidFill>
                  <a:srgbClr val="FFFFFF"/>
                </a:solidFill>
                <a:latin typeface="Nourd Bold"/>
                <a:ea typeface="Nourd Bold"/>
                <a:cs typeface="Nourd Bold"/>
                <a:sym typeface="Nourd Bold"/>
              </a:rPr>
              <a:t>NUMBER OF DRIVERS</a:t>
            </a:r>
          </a:p>
        </p:txBody>
      </p:sp>
      <p:sp>
        <p:nvSpPr>
          <p:cNvPr name="TextBox 9" id="9"/>
          <p:cNvSpPr txBox="true"/>
          <p:nvPr/>
        </p:nvSpPr>
        <p:spPr>
          <a:xfrm rot="0">
            <a:off x="5039147" y="7838282"/>
            <a:ext cx="3048341" cy="727710"/>
          </a:xfrm>
          <a:prstGeom prst="rect">
            <a:avLst/>
          </a:prstGeom>
        </p:spPr>
        <p:txBody>
          <a:bodyPr anchor="t" rtlCol="false" tIns="0" lIns="0" bIns="0" rIns="0">
            <a:spAutoFit/>
          </a:bodyPr>
          <a:lstStyle/>
          <a:p>
            <a:pPr algn="ctr">
              <a:lnSpc>
                <a:spcPts val="2940"/>
              </a:lnSpc>
            </a:pPr>
            <a:r>
              <a:rPr lang="en-US" b="true" sz="2100">
                <a:solidFill>
                  <a:srgbClr val="FFFFFF"/>
                </a:solidFill>
                <a:latin typeface="Nourd Bold"/>
                <a:ea typeface="Nourd Bold"/>
                <a:cs typeface="Nourd Bold"/>
                <a:sym typeface="Nourd Bold"/>
              </a:rPr>
              <a:t>VEHICLE AGE &amp; LICENSE TENTURE</a:t>
            </a:r>
          </a:p>
        </p:txBody>
      </p:sp>
      <p:sp>
        <p:nvSpPr>
          <p:cNvPr name="TextBox 10" id="10"/>
          <p:cNvSpPr txBox="true"/>
          <p:nvPr/>
        </p:nvSpPr>
        <p:spPr>
          <a:xfrm rot="0">
            <a:off x="522072" y="7997349"/>
            <a:ext cx="3216928" cy="356235"/>
          </a:xfrm>
          <a:prstGeom prst="rect">
            <a:avLst/>
          </a:prstGeom>
        </p:spPr>
        <p:txBody>
          <a:bodyPr anchor="t" rtlCol="false" tIns="0" lIns="0" bIns="0" rIns="0">
            <a:spAutoFit/>
          </a:bodyPr>
          <a:lstStyle/>
          <a:p>
            <a:pPr algn="ctr">
              <a:lnSpc>
                <a:spcPts val="2940"/>
              </a:lnSpc>
            </a:pPr>
            <a:r>
              <a:rPr lang="en-US" b="true" sz="2100">
                <a:solidFill>
                  <a:srgbClr val="FFFFFF"/>
                </a:solidFill>
                <a:latin typeface="Nourd Bold"/>
                <a:ea typeface="Nourd Bold"/>
                <a:cs typeface="Nourd Bold"/>
                <a:sym typeface="Nourd Bold"/>
              </a:rPr>
              <a:t>REGION TYPE</a:t>
            </a:r>
          </a:p>
        </p:txBody>
      </p:sp>
      <p:sp>
        <p:nvSpPr>
          <p:cNvPr name="TextBox 11" id="11"/>
          <p:cNvSpPr txBox="true"/>
          <p:nvPr/>
        </p:nvSpPr>
        <p:spPr>
          <a:xfrm rot="0">
            <a:off x="8874606" y="4317871"/>
            <a:ext cx="7732670" cy="405761"/>
          </a:xfrm>
          <a:prstGeom prst="rect">
            <a:avLst/>
          </a:prstGeom>
        </p:spPr>
        <p:txBody>
          <a:bodyPr anchor="t" rtlCol="false" tIns="0" lIns="0" bIns="0" rIns="0">
            <a:spAutoFit/>
          </a:bodyPr>
          <a:lstStyle/>
          <a:p>
            <a:pPr algn="l">
              <a:lnSpc>
                <a:spcPts val="3360"/>
              </a:lnSpc>
            </a:pPr>
            <a:r>
              <a:rPr lang="en-US" sz="2400">
                <a:solidFill>
                  <a:srgbClr val="000000"/>
                </a:solidFill>
                <a:latin typeface="Source Sans Pro"/>
                <a:ea typeface="Source Sans Pro"/>
                <a:cs typeface="Source Sans Pro"/>
                <a:sym typeface="Source Sans Pro"/>
              </a:rPr>
              <a:t> longer contracts linked to higher loss</a:t>
            </a:r>
          </a:p>
        </p:txBody>
      </p:sp>
      <p:sp>
        <p:nvSpPr>
          <p:cNvPr name="TextBox 12" id="12"/>
          <p:cNvSpPr txBox="true"/>
          <p:nvPr/>
        </p:nvSpPr>
        <p:spPr>
          <a:xfrm rot="0">
            <a:off x="8874606" y="3942586"/>
            <a:ext cx="5101521" cy="415290"/>
          </a:xfrm>
          <a:prstGeom prst="rect">
            <a:avLst/>
          </a:prstGeom>
        </p:spPr>
        <p:txBody>
          <a:bodyPr anchor="t" rtlCol="false" tIns="0" lIns="0" bIns="0" rIns="0">
            <a:spAutoFit/>
          </a:bodyPr>
          <a:lstStyle/>
          <a:p>
            <a:pPr algn="l" marL="0" indent="0" lvl="0">
              <a:lnSpc>
                <a:spcPts val="3359"/>
              </a:lnSpc>
              <a:spcBef>
                <a:spcPct val="0"/>
              </a:spcBef>
            </a:pPr>
            <a:r>
              <a:rPr lang="en-US" b="true" sz="2399" strike="noStrike" u="none">
                <a:solidFill>
                  <a:srgbClr val="F15846"/>
                </a:solidFill>
                <a:latin typeface="Nourd Bold"/>
                <a:ea typeface="Nourd Bold"/>
                <a:cs typeface="Nourd Bold"/>
                <a:sym typeface="Nourd Bold"/>
              </a:rPr>
              <a:t>CONTRACT DURATION (X.14)</a:t>
            </a:r>
          </a:p>
        </p:txBody>
      </p:sp>
      <p:sp>
        <p:nvSpPr>
          <p:cNvPr name="TextBox 13" id="13"/>
          <p:cNvSpPr txBox="true"/>
          <p:nvPr/>
        </p:nvSpPr>
        <p:spPr>
          <a:xfrm rot="0">
            <a:off x="8874606" y="5213841"/>
            <a:ext cx="7732670" cy="405761"/>
          </a:xfrm>
          <a:prstGeom prst="rect">
            <a:avLst/>
          </a:prstGeom>
        </p:spPr>
        <p:txBody>
          <a:bodyPr anchor="t" rtlCol="false" tIns="0" lIns="0" bIns="0" rIns="0">
            <a:spAutoFit/>
          </a:bodyPr>
          <a:lstStyle/>
          <a:p>
            <a:pPr algn="l">
              <a:lnSpc>
                <a:spcPts val="3360"/>
              </a:lnSpc>
            </a:pPr>
            <a:r>
              <a:rPr lang="en-US" sz="2400">
                <a:solidFill>
                  <a:srgbClr val="000000"/>
                </a:solidFill>
                <a:latin typeface="Source Sans Pro"/>
                <a:ea typeface="Source Sans Pro"/>
                <a:cs typeface="Source Sans Pro"/>
                <a:sym typeface="Source Sans Pro"/>
              </a:rPr>
              <a:t>more drivers, more exposure</a:t>
            </a:r>
          </a:p>
        </p:txBody>
      </p:sp>
      <p:sp>
        <p:nvSpPr>
          <p:cNvPr name="TextBox 14" id="14"/>
          <p:cNvSpPr txBox="true"/>
          <p:nvPr/>
        </p:nvSpPr>
        <p:spPr>
          <a:xfrm rot="0">
            <a:off x="8874606" y="4838556"/>
            <a:ext cx="4458205" cy="415290"/>
          </a:xfrm>
          <a:prstGeom prst="rect">
            <a:avLst/>
          </a:prstGeom>
        </p:spPr>
        <p:txBody>
          <a:bodyPr anchor="t" rtlCol="false" tIns="0" lIns="0" bIns="0" rIns="0">
            <a:spAutoFit/>
          </a:bodyPr>
          <a:lstStyle/>
          <a:p>
            <a:pPr algn="l">
              <a:lnSpc>
                <a:spcPts val="3359"/>
              </a:lnSpc>
            </a:pPr>
            <a:r>
              <a:rPr lang="en-US" b="true" sz="2399">
                <a:solidFill>
                  <a:srgbClr val="F15846"/>
                </a:solidFill>
                <a:latin typeface="Nourd Bold"/>
                <a:ea typeface="Nourd Bold"/>
                <a:cs typeface="Nourd Bold"/>
                <a:sym typeface="Nourd Bold"/>
              </a:rPr>
              <a:t>NUMBER OF DRIVERS (X.8)</a:t>
            </a:r>
          </a:p>
        </p:txBody>
      </p:sp>
      <p:sp>
        <p:nvSpPr>
          <p:cNvPr name="TextBox 15" id="15"/>
          <p:cNvSpPr txBox="true"/>
          <p:nvPr/>
        </p:nvSpPr>
        <p:spPr>
          <a:xfrm rot="0">
            <a:off x="8874606" y="6101241"/>
            <a:ext cx="7732670" cy="405761"/>
          </a:xfrm>
          <a:prstGeom prst="rect">
            <a:avLst/>
          </a:prstGeom>
        </p:spPr>
        <p:txBody>
          <a:bodyPr anchor="t" rtlCol="false" tIns="0" lIns="0" bIns="0" rIns="0">
            <a:spAutoFit/>
          </a:bodyPr>
          <a:lstStyle/>
          <a:p>
            <a:pPr algn="l">
              <a:lnSpc>
                <a:spcPts val="3360"/>
              </a:lnSpc>
            </a:pPr>
            <a:r>
              <a:rPr lang="en-US" sz="2400">
                <a:solidFill>
                  <a:srgbClr val="000000"/>
                </a:solidFill>
                <a:latin typeface="Source Sans Pro"/>
                <a:ea typeface="Source Sans Pro"/>
                <a:cs typeface="Source Sans Pro"/>
                <a:sym typeface="Source Sans Pro"/>
              </a:rPr>
              <a:t>Suggests geographic risk differences</a:t>
            </a:r>
          </a:p>
        </p:txBody>
      </p:sp>
      <p:sp>
        <p:nvSpPr>
          <p:cNvPr name="TextBox 16" id="16"/>
          <p:cNvSpPr txBox="true"/>
          <p:nvPr/>
        </p:nvSpPr>
        <p:spPr>
          <a:xfrm rot="0">
            <a:off x="8874606" y="5725956"/>
            <a:ext cx="3277580" cy="415290"/>
          </a:xfrm>
          <a:prstGeom prst="rect">
            <a:avLst/>
          </a:prstGeom>
        </p:spPr>
        <p:txBody>
          <a:bodyPr anchor="t" rtlCol="false" tIns="0" lIns="0" bIns="0" rIns="0">
            <a:spAutoFit/>
          </a:bodyPr>
          <a:lstStyle/>
          <a:p>
            <a:pPr algn="l">
              <a:lnSpc>
                <a:spcPts val="3359"/>
              </a:lnSpc>
            </a:pPr>
            <a:r>
              <a:rPr lang="en-US" b="true" sz="2399">
                <a:solidFill>
                  <a:srgbClr val="F15846"/>
                </a:solidFill>
                <a:latin typeface="Nourd Bold"/>
                <a:ea typeface="Nourd Bold"/>
                <a:cs typeface="Nourd Bold"/>
                <a:sym typeface="Nourd Bold"/>
              </a:rPr>
              <a:t>REGION TYPE (X.13)</a:t>
            </a:r>
          </a:p>
        </p:txBody>
      </p:sp>
      <p:sp>
        <p:nvSpPr>
          <p:cNvPr name="TextBox 17" id="17"/>
          <p:cNvSpPr txBox="true"/>
          <p:nvPr/>
        </p:nvSpPr>
        <p:spPr>
          <a:xfrm rot="0">
            <a:off x="8874606" y="6672519"/>
            <a:ext cx="7329173" cy="415290"/>
          </a:xfrm>
          <a:prstGeom prst="rect">
            <a:avLst/>
          </a:prstGeom>
        </p:spPr>
        <p:txBody>
          <a:bodyPr anchor="t" rtlCol="false" tIns="0" lIns="0" bIns="0" rIns="0">
            <a:spAutoFit/>
          </a:bodyPr>
          <a:lstStyle/>
          <a:p>
            <a:pPr algn="l">
              <a:lnSpc>
                <a:spcPts val="3359"/>
              </a:lnSpc>
            </a:pPr>
            <a:r>
              <a:rPr lang="en-US" b="true" sz="2399">
                <a:solidFill>
                  <a:srgbClr val="F15846"/>
                </a:solidFill>
                <a:latin typeface="Nourd Bold"/>
                <a:ea typeface="Nourd Bold"/>
                <a:cs typeface="Nourd Bold"/>
                <a:sym typeface="Nourd Bold"/>
              </a:rPr>
              <a:t>VEHICLE AGE &amp; LICENSE TENURE (X.22)</a:t>
            </a:r>
          </a:p>
        </p:txBody>
      </p:sp>
      <p:sp>
        <p:nvSpPr>
          <p:cNvPr name="TextBox 18" id="18"/>
          <p:cNvSpPr txBox="true"/>
          <p:nvPr/>
        </p:nvSpPr>
        <p:spPr>
          <a:xfrm rot="0">
            <a:off x="8874606" y="7040065"/>
            <a:ext cx="7732670" cy="405761"/>
          </a:xfrm>
          <a:prstGeom prst="rect">
            <a:avLst/>
          </a:prstGeom>
        </p:spPr>
        <p:txBody>
          <a:bodyPr anchor="t" rtlCol="false" tIns="0" lIns="0" bIns="0" rIns="0">
            <a:spAutoFit/>
          </a:bodyPr>
          <a:lstStyle/>
          <a:p>
            <a:pPr algn="l">
              <a:lnSpc>
                <a:spcPts val="3360"/>
              </a:lnSpc>
            </a:pPr>
            <a:r>
              <a:rPr lang="en-US" sz="2400">
                <a:solidFill>
                  <a:srgbClr val="000000"/>
                </a:solidFill>
                <a:latin typeface="Source Sans Pro"/>
                <a:ea typeface="Source Sans Pro"/>
                <a:cs typeface="Source Sans Pro"/>
                <a:sym typeface="Source Sans Pro"/>
              </a:rPr>
              <a:t>proxies for experience and responsibility</a:t>
            </a:r>
          </a:p>
        </p:txBody>
      </p:sp>
      <p:sp>
        <p:nvSpPr>
          <p:cNvPr name="TextBox 19" id="19"/>
          <p:cNvSpPr txBox="true"/>
          <p:nvPr/>
        </p:nvSpPr>
        <p:spPr>
          <a:xfrm rot="0">
            <a:off x="1479362" y="3616831"/>
            <a:ext cx="2006991" cy="727710"/>
          </a:xfrm>
          <a:prstGeom prst="rect">
            <a:avLst/>
          </a:prstGeom>
        </p:spPr>
        <p:txBody>
          <a:bodyPr anchor="t" rtlCol="false" tIns="0" lIns="0" bIns="0" rIns="0">
            <a:spAutoFit/>
          </a:bodyPr>
          <a:lstStyle/>
          <a:p>
            <a:pPr algn="ctr" marL="0" indent="0" lvl="0">
              <a:lnSpc>
                <a:spcPts val="2940"/>
              </a:lnSpc>
              <a:spcBef>
                <a:spcPct val="0"/>
              </a:spcBef>
            </a:pPr>
            <a:r>
              <a:rPr lang="en-US" b="true" sz="2100" strike="noStrike" u="none">
                <a:solidFill>
                  <a:srgbClr val="FFFFFF"/>
                </a:solidFill>
                <a:latin typeface="Nourd Bold"/>
                <a:ea typeface="Nourd Bold"/>
                <a:cs typeface="Nourd Bold"/>
                <a:sym typeface="Nourd Bold"/>
              </a:rPr>
              <a:t>CONTRACT DURATION</a:t>
            </a:r>
          </a:p>
        </p:txBody>
      </p:sp>
      <p:sp>
        <p:nvSpPr>
          <p:cNvPr name="Freeform 20" id="20"/>
          <p:cNvSpPr/>
          <p:nvPr/>
        </p:nvSpPr>
        <p:spPr>
          <a:xfrm flipH="false" flipV="false" rot="0">
            <a:off x="6096854" y="1303503"/>
            <a:ext cx="932927" cy="1262845"/>
          </a:xfrm>
          <a:custGeom>
            <a:avLst/>
            <a:gdLst/>
            <a:ahLst/>
            <a:cxnLst/>
            <a:rect r="r" b="b" t="t" l="l"/>
            <a:pathLst>
              <a:path h="1262845" w="932927">
                <a:moveTo>
                  <a:pt x="0" y="0"/>
                </a:moveTo>
                <a:lnTo>
                  <a:pt x="932927" y="0"/>
                </a:lnTo>
                <a:lnTo>
                  <a:pt x="932927" y="1262846"/>
                </a:lnTo>
                <a:lnTo>
                  <a:pt x="0" y="1262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6525846" y="1807605"/>
            <a:ext cx="932927" cy="1262845"/>
          </a:xfrm>
          <a:custGeom>
            <a:avLst/>
            <a:gdLst/>
            <a:ahLst/>
            <a:cxnLst/>
            <a:rect r="r" b="b" t="t" l="l"/>
            <a:pathLst>
              <a:path h="1262845" w="932927">
                <a:moveTo>
                  <a:pt x="0" y="0"/>
                </a:moveTo>
                <a:lnTo>
                  <a:pt x="932927" y="0"/>
                </a:lnTo>
                <a:lnTo>
                  <a:pt x="932927" y="1262846"/>
                </a:lnTo>
                <a:lnTo>
                  <a:pt x="0" y="1262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2" id="22"/>
          <p:cNvSpPr txBox="true"/>
          <p:nvPr/>
        </p:nvSpPr>
        <p:spPr>
          <a:xfrm rot="0">
            <a:off x="8874606" y="8076977"/>
            <a:ext cx="5371280" cy="824861"/>
          </a:xfrm>
          <a:prstGeom prst="rect">
            <a:avLst/>
          </a:prstGeom>
        </p:spPr>
        <p:txBody>
          <a:bodyPr anchor="t" rtlCol="false" tIns="0" lIns="0" bIns="0" rIns="0">
            <a:spAutoFit/>
          </a:bodyPr>
          <a:lstStyle/>
          <a:p>
            <a:pPr algn="l">
              <a:lnSpc>
                <a:spcPts val="3360"/>
              </a:lnSpc>
            </a:pPr>
            <a:r>
              <a:rPr lang="en-US" sz="2400">
                <a:solidFill>
                  <a:srgbClr val="000000"/>
                </a:solidFill>
                <a:latin typeface="Source Sans Pro"/>
                <a:ea typeface="Source Sans Pro"/>
                <a:cs typeface="Source Sans Pro"/>
                <a:sym typeface="Source Sans Pro"/>
              </a:rPr>
              <a:t>Th</a:t>
            </a:r>
            <a:r>
              <a:rPr lang="en-US" sz="2400">
                <a:solidFill>
                  <a:srgbClr val="000000"/>
                </a:solidFill>
                <a:latin typeface="Source Sans Pro"/>
                <a:ea typeface="Source Sans Pro"/>
                <a:cs typeface="Source Sans Pro"/>
                <a:sym typeface="Source Sans Pro"/>
              </a:rPr>
              <a:t>ese insights help refine pricing tiers, risk scoring, and marketing segmentation</a:t>
            </a:r>
          </a:p>
        </p:txBody>
      </p:sp>
      <p:grpSp>
        <p:nvGrpSpPr>
          <p:cNvPr name="Group 23" id="23"/>
          <p:cNvGrpSpPr/>
          <p:nvPr/>
        </p:nvGrpSpPr>
        <p:grpSpPr>
          <a:xfrm rot="0">
            <a:off x="14245886" y="-9704247"/>
            <a:ext cx="14248811" cy="14248811"/>
            <a:chOff x="0" y="0"/>
            <a:chExt cx="6350000" cy="6350000"/>
          </a:xfrm>
        </p:grpSpPr>
        <p:sp>
          <p:nvSpPr>
            <p:cNvPr name="Freeform 24" id="2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09771" y="2431453"/>
            <a:ext cx="7662535" cy="6263925"/>
          </a:xfrm>
          <a:prstGeom prst="rect">
            <a:avLst/>
          </a:prstGeom>
        </p:spPr>
        <p:txBody>
          <a:bodyPr anchor="t" rtlCol="false" tIns="0" lIns="0" bIns="0" rIns="0">
            <a:spAutoFit/>
          </a:bodyPr>
          <a:lstStyle/>
          <a:p>
            <a:pPr algn="l">
              <a:lnSpc>
                <a:spcPts val="3357"/>
              </a:lnSpc>
            </a:pPr>
          </a:p>
          <a:p>
            <a:pPr algn="l">
              <a:lnSpc>
                <a:spcPts val="3357"/>
              </a:lnSpc>
            </a:pPr>
            <a:r>
              <a:rPr lang="en-US" b="true" sz="2397">
                <a:solidFill>
                  <a:srgbClr val="F15846"/>
                </a:solidFill>
                <a:latin typeface="Nourd Bold"/>
                <a:ea typeface="Nourd Bold"/>
                <a:cs typeface="Nourd Bold"/>
                <a:sym typeface="Nourd Bold"/>
              </a:rPr>
              <a:t>WE SEGMENTED CUSTOMERS BY</a:t>
            </a:r>
          </a:p>
          <a:p>
            <a:pPr algn="l" marL="517708" indent="-258854" lvl="1">
              <a:lnSpc>
                <a:spcPts val="3357"/>
              </a:lnSpc>
              <a:buFont typeface="Arial"/>
              <a:buChar char="•"/>
            </a:pPr>
            <a:r>
              <a:rPr lang="en-US" sz="2397">
                <a:solidFill>
                  <a:srgbClr val="000000"/>
                </a:solidFill>
                <a:latin typeface="Source Sans Pro"/>
                <a:ea typeface="Source Sans Pro"/>
                <a:cs typeface="Source Sans Pro"/>
                <a:sym typeface="Source Sans Pro"/>
              </a:rPr>
              <a:t>Insurance Tenure: New, Emerging, Established, Loyal</a:t>
            </a:r>
          </a:p>
          <a:p>
            <a:pPr algn="l" marL="517708" indent="-258854" lvl="1">
              <a:lnSpc>
                <a:spcPts val="3357"/>
              </a:lnSpc>
              <a:buFont typeface="Arial"/>
              <a:buChar char="•"/>
            </a:pPr>
            <a:r>
              <a:rPr lang="en-US" sz="2397">
                <a:solidFill>
                  <a:srgbClr val="000000"/>
                </a:solidFill>
                <a:latin typeface="Source Sans Pro"/>
                <a:ea typeface="Source Sans Pro"/>
                <a:cs typeface="Source Sans Pro"/>
                <a:sym typeface="Source Sans Pro"/>
              </a:rPr>
              <a:t>Net Premium Tiers: Low, Medium, High</a:t>
            </a:r>
          </a:p>
          <a:p>
            <a:pPr algn="l">
              <a:lnSpc>
                <a:spcPts val="3357"/>
              </a:lnSpc>
            </a:pPr>
            <a:r>
              <a:rPr lang="en-US" b="true" sz="2397">
                <a:solidFill>
                  <a:srgbClr val="F15846"/>
                </a:solidFill>
                <a:latin typeface="Nourd Bold"/>
                <a:ea typeface="Nourd Bold"/>
                <a:cs typeface="Nourd Bold"/>
                <a:sym typeface="Nourd Bold"/>
              </a:rPr>
              <a:t>FINDINGS</a:t>
            </a:r>
          </a:p>
          <a:p>
            <a:pPr algn="l" marL="517708" indent="-258854" lvl="1">
              <a:lnSpc>
                <a:spcPts val="3357"/>
              </a:lnSpc>
              <a:buFont typeface="Arial"/>
              <a:buChar char="•"/>
            </a:pPr>
            <a:r>
              <a:rPr lang="en-US" sz="2397">
                <a:solidFill>
                  <a:srgbClr val="000000"/>
                </a:solidFill>
                <a:latin typeface="Source Sans Pro"/>
                <a:ea typeface="Source Sans Pro"/>
                <a:cs typeface="Source Sans Pro"/>
                <a:sym typeface="Source Sans Pro"/>
              </a:rPr>
              <a:t>New customers had the highest average H</a:t>
            </a:r>
            <a:r>
              <a:rPr lang="en-US" sz="2397">
                <a:solidFill>
                  <a:srgbClr val="000000"/>
                </a:solidFill>
                <a:latin typeface="Source Sans Pro"/>
                <a:ea typeface="Source Sans Pro"/>
                <a:cs typeface="Source Sans Pro"/>
                <a:sym typeface="Source Sans Pro"/>
              </a:rPr>
              <a:t>ALC — likely due to limited history</a:t>
            </a:r>
          </a:p>
          <a:p>
            <a:pPr algn="l" marL="517708" indent="-258854" lvl="1">
              <a:lnSpc>
                <a:spcPts val="3357"/>
              </a:lnSpc>
              <a:buFont typeface="Arial"/>
              <a:buChar char="•"/>
            </a:pPr>
            <a:r>
              <a:rPr lang="en-US" sz="2397">
                <a:solidFill>
                  <a:srgbClr val="000000"/>
                </a:solidFill>
                <a:latin typeface="Source Sans Pro"/>
                <a:ea typeface="Source Sans Pro"/>
                <a:cs typeface="Source Sans Pro"/>
                <a:sym typeface="Source Sans Pro"/>
              </a:rPr>
              <a:t>Low premium customers carried the highest risk relative to cost</a:t>
            </a:r>
          </a:p>
          <a:p>
            <a:pPr algn="l" marL="517708" indent="-258854" lvl="1">
              <a:lnSpc>
                <a:spcPts val="3357"/>
              </a:lnSpc>
              <a:buFont typeface="Arial"/>
              <a:buChar char="•"/>
            </a:pPr>
            <a:r>
              <a:rPr lang="en-US" sz="2397">
                <a:solidFill>
                  <a:srgbClr val="000000"/>
                </a:solidFill>
                <a:latin typeface="Source Sans Pro"/>
                <a:ea typeface="Source Sans Pro"/>
                <a:cs typeface="Source Sans Pro"/>
                <a:sym typeface="Source Sans Pro"/>
              </a:rPr>
              <a:t>Loyal customers had the lowest HALC, indicating potential for profitable retention</a:t>
            </a:r>
          </a:p>
          <a:p>
            <a:pPr algn="l">
              <a:lnSpc>
                <a:spcPts val="3357"/>
              </a:lnSpc>
            </a:pPr>
            <a:r>
              <a:rPr lang="en-US" b="true" sz="2397">
                <a:solidFill>
                  <a:srgbClr val="F15846"/>
                </a:solidFill>
                <a:latin typeface="Canva Sans Bold"/>
                <a:ea typeface="Canva Sans Bold"/>
                <a:cs typeface="Canva Sans Bold"/>
                <a:sym typeface="Canva Sans Bold"/>
              </a:rPr>
              <a:t>BUSINESS IMPLICATION</a:t>
            </a:r>
          </a:p>
          <a:p>
            <a:pPr algn="l" marL="517708" indent="-258854" lvl="1">
              <a:lnSpc>
                <a:spcPts val="3357"/>
              </a:lnSpc>
              <a:buFont typeface="Arial"/>
              <a:buChar char="•"/>
            </a:pPr>
            <a:r>
              <a:rPr lang="en-US" sz="2397">
                <a:solidFill>
                  <a:srgbClr val="000000"/>
                </a:solidFill>
                <a:latin typeface="Source Sans Pro"/>
                <a:ea typeface="Source Sans Pro"/>
                <a:cs typeface="Source Sans Pro"/>
                <a:sym typeface="Source Sans Pro"/>
              </a:rPr>
              <a:t>Prioritize monitoring new/low-tier customers</a:t>
            </a:r>
          </a:p>
          <a:p>
            <a:pPr algn="l" marL="517708" indent="-258854" lvl="1">
              <a:lnSpc>
                <a:spcPts val="3357"/>
              </a:lnSpc>
              <a:buFont typeface="Arial"/>
              <a:buChar char="•"/>
            </a:pPr>
            <a:r>
              <a:rPr lang="en-US" sz="2397">
                <a:solidFill>
                  <a:srgbClr val="000000"/>
                </a:solidFill>
                <a:latin typeface="Source Sans Pro"/>
                <a:ea typeface="Source Sans Pro"/>
                <a:cs typeface="Source Sans Pro"/>
                <a:sym typeface="Source Sans Pro"/>
              </a:rPr>
              <a:t>Incentivize retention of low-HALC loyal customers</a:t>
            </a:r>
          </a:p>
          <a:p>
            <a:pPr algn="l">
              <a:lnSpc>
                <a:spcPts val="3357"/>
              </a:lnSpc>
            </a:pPr>
          </a:p>
        </p:txBody>
      </p:sp>
      <p:sp>
        <p:nvSpPr>
          <p:cNvPr name="TextBox 3" id="3"/>
          <p:cNvSpPr txBox="true"/>
          <p:nvPr/>
        </p:nvSpPr>
        <p:spPr>
          <a:xfrm rot="0">
            <a:off x="909771" y="1250720"/>
            <a:ext cx="5573613" cy="1944370"/>
          </a:xfrm>
          <a:prstGeom prst="rect">
            <a:avLst/>
          </a:prstGeom>
        </p:spPr>
        <p:txBody>
          <a:bodyPr anchor="t" rtlCol="false" tIns="0" lIns="0" bIns="0" rIns="0">
            <a:spAutoFit/>
          </a:bodyPr>
          <a:lstStyle/>
          <a:p>
            <a:pPr algn="l">
              <a:lnSpc>
                <a:spcPts val="5179"/>
              </a:lnSpc>
            </a:pPr>
            <a:r>
              <a:rPr lang="en-US" sz="3699" b="true">
                <a:solidFill>
                  <a:srgbClr val="000000"/>
                </a:solidFill>
                <a:latin typeface="Nourd Bold"/>
                <a:ea typeface="Nourd Bold"/>
                <a:cs typeface="Nourd Bold"/>
                <a:sym typeface="Nourd Bold"/>
              </a:rPr>
              <a:t>CUSTOMER</a:t>
            </a:r>
            <a:r>
              <a:rPr lang="en-US" sz="3699" b="true">
                <a:solidFill>
                  <a:srgbClr val="000000"/>
                </a:solidFill>
                <a:latin typeface="Nourd Bold"/>
                <a:ea typeface="Nourd Bold"/>
                <a:cs typeface="Nourd Bold"/>
                <a:sym typeface="Nourd Bold"/>
              </a:rPr>
              <a:t> SEGMENTS WORTH WATCHING</a:t>
            </a:r>
          </a:p>
          <a:p>
            <a:pPr algn="l">
              <a:lnSpc>
                <a:spcPts val="5179"/>
              </a:lnSpc>
            </a:pPr>
          </a:p>
        </p:txBody>
      </p:sp>
      <p:pic>
        <p:nvPicPr>
          <p:cNvPr name="Picture 4" id="4"/>
          <p:cNvPicPr>
            <a:picLocks noChangeAspect="true"/>
          </p:cNvPicPr>
          <p:nvPr/>
        </p:nvPicPr>
        <p:blipFill>
          <a:blip r:embed="rId3"/>
          <a:stretch>
            <a:fillRect/>
          </a:stretch>
        </p:blipFill>
        <p:spPr>
          <a:xfrm rot="0">
            <a:off x="8869907" y="2856154"/>
            <a:ext cx="4775195" cy="5475204"/>
          </a:xfrm>
          <a:prstGeom prst="rect">
            <a:avLst/>
          </a:prstGeom>
        </p:spPr>
      </p:pic>
      <p:sp>
        <p:nvSpPr>
          <p:cNvPr name="TextBox 5" id="5"/>
          <p:cNvSpPr txBox="true"/>
          <p:nvPr/>
        </p:nvSpPr>
        <p:spPr>
          <a:xfrm rot="0">
            <a:off x="9430257" y="2067940"/>
            <a:ext cx="4033152" cy="1653540"/>
          </a:xfrm>
          <a:prstGeom prst="rect">
            <a:avLst/>
          </a:prstGeom>
        </p:spPr>
        <p:txBody>
          <a:bodyPr anchor="t" rtlCol="false" tIns="0" lIns="0" bIns="0" rIns="0">
            <a:spAutoFit/>
          </a:bodyPr>
          <a:lstStyle/>
          <a:p>
            <a:pPr algn="ctr">
              <a:lnSpc>
                <a:spcPts val="3359"/>
              </a:lnSpc>
            </a:pPr>
            <a:r>
              <a:rPr lang="en-US" b="true" sz="2400">
                <a:solidFill>
                  <a:srgbClr val="000000"/>
                </a:solidFill>
                <a:latin typeface="Nourd Bold"/>
                <a:ea typeface="Nourd Bold"/>
                <a:cs typeface="Nourd Bold"/>
                <a:sym typeface="Nourd Bold"/>
              </a:rPr>
              <a:t>AVERAGE HALC BY INSURANCE TENURE</a:t>
            </a:r>
            <a:r>
              <a:rPr lang="en-US" b="true" sz="2400">
                <a:solidFill>
                  <a:srgbClr val="000000"/>
                </a:solidFill>
                <a:latin typeface="Nourd Bold"/>
                <a:ea typeface="Nourd Bold"/>
                <a:cs typeface="Nourd Bold"/>
                <a:sym typeface="Nourd Bold"/>
              </a:rPr>
              <a:t> SEGMENT</a:t>
            </a:r>
          </a:p>
          <a:p>
            <a:pPr algn="ctr">
              <a:lnSpc>
                <a:spcPts val="3359"/>
              </a:lnSpc>
            </a:pPr>
          </a:p>
        </p:txBody>
      </p:sp>
      <p:sp>
        <p:nvSpPr>
          <p:cNvPr name="TextBox 6" id="6"/>
          <p:cNvSpPr txBox="true"/>
          <p:nvPr/>
        </p:nvSpPr>
        <p:spPr>
          <a:xfrm rot="0">
            <a:off x="9498728" y="7846516"/>
            <a:ext cx="3517553" cy="980440"/>
          </a:xfrm>
          <a:prstGeom prst="rect">
            <a:avLst/>
          </a:prstGeom>
        </p:spPr>
        <p:txBody>
          <a:bodyPr anchor="t" rtlCol="false" tIns="0" lIns="0" bIns="0" rIns="0">
            <a:spAutoFit/>
          </a:bodyPr>
          <a:lstStyle/>
          <a:p>
            <a:pPr algn="l">
              <a:lnSpc>
                <a:spcPts val="2660"/>
              </a:lnSpc>
            </a:pPr>
            <a:r>
              <a:rPr lang="en-US" sz="1900">
                <a:solidFill>
                  <a:srgbClr val="000000"/>
                </a:solidFill>
                <a:latin typeface="Nourd"/>
                <a:ea typeface="Nourd"/>
                <a:cs typeface="Nourd"/>
                <a:sym typeface="Nourd"/>
              </a:rPr>
              <a:t>HALC decreases with tenure → loyal customers are less risk</a:t>
            </a:r>
          </a:p>
          <a:p>
            <a:pPr algn="l">
              <a:lnSpc>
                <a:spcPts val="2660"/>
              </a:lnSpc>
              <a:spcBef>
                <a:spcPct val="0"/>
              </a:spcBef>
            </a:pPr>
          </a:p>
        </p:txBody>
      </p:sp>
      <p:pic>
        <p:nvPicPr>
          <p:cNvPr name="Picture 7" id="7"/>
          <p:cNvPicPr>
            <a:picLocks noChangeAspect="true"/>
          </p:cNvPicPr>
          <p:nvPr/>
        </p:nvPicPr>
        <p:blipFill>
          <a:blip r:embed="rId4"/>
          <a:stretch>
            <a:fillRect/>
          </a:stretch>
        </p:blipFill>
        <p:spPr>
          <a:xfrm rot="0">
            <a:off x="13485308" y="2808782"/>
            <a:ext cx="4196402" cy="4823603"/>
          </a:xfrm>
          <a:prstGeom prst="rect">
            <a:avLst/>
          </a:prstGeom>
        </p:spPr>
      </p:pic>
      <p:sp>
        <p:nvSpPr>
          <p:cNvPr name="TextBox 8" id="8"/>
          <p:cNvSpPr txBox="true"/>
          <p:nvPr/>
        </p:nvSpPr>
        <p:spPr>
          <a:xfrm rot="0">
            <a:off x="13889959" y="2067940"/>
            <a:ext cx="3243094" cy="815340"/>
          </a:xfrm>
          <a:prstGeom prst="rect">
            <a:avLst/>
          </a:prstGeom>
        </p:spPr>
        <p:txBody>
          <a:bodyPr anchor="t" rtlCol="false" tIns="0" lIns="0" bIns="0" rIns="0">
            <a:spAutoFit/>
          </a:bodyPr>
          <a:lstStyle/>
          <a:p>
            <a:pPr algn="ctr">
              <a:lnSpc>
                <a:spcPts val="3359"/>
              </a:lnSpc>
            </a:pPr>
            <a:r>
              <a:rPr lang="en-US" b="true" sz="2400">
                <a:solidFill>
                  <a:srgbClr val="000000"/>
                </a:solidFill>
                <a:latin typeface="Nourd Bold"/>
                <a:ea typeface="Nourd Bold"/>
                <a:cs typeface="Nourd Bold"/>
                <a:sym typeface="Nourd Bold"/>
              </a:rPr>
              <a:t>AVERAGE HALC BY NET PREMIUM</a:t>
            </a:r>
            <a:r>
              <a:rPr lang="en-US" b="true" sz="2400">
                <a:solidFill>
                  <a:srgbClr val="000000"/>
                </a:solidFill>
                <a:latin typeface="Nourd Bold"/>
                <a:ea typeface="Nourd Bold"/>
                <a:cs typeface="Nourd Bold"/>
                <a:sym typeface="Nourd Bold"/>
              </a:rPr>
              <a:t> TIER</a:t>
            </a:r>
          </a:p>
        </p:txBody>
      </p:sp>
      <p:sp>
        <p:nvSpPr>
          <p:cNvPr name="TextBox 9" id="9"/>
          <p:cNvSpPr txBox="true"/>
          <p:nvPr/>
        </p:nvSpPr>
        <p:spPr>
          <a:xfrm rot="0">
            <a:off x="14201044" y="7411469"/>
            <a:ext cx="3444035" cy="1647190"/>
          </a:xfrm>
          <a:prstGeom prst="rect">
            <a:avLst/>
          </a:prstGeom>
        </p:spPr>
        <p:txBody>
          <a:bodyPr anchor="t" rtlCol="false" tIns="0" lIns="0" bIns="0" rIns="0">
            <a:spAutoFit/>
          </a:bodyPr>
          <a:lstStyle/>
          <a:p>
            <a:pPr algn="l">
              <a:lnSpc>
                <a:spcPts val="2660"/>
              </a:lnSpc>
            </a:pPr>
            <a:r>
              <a:rPr lang="en-US" sz="1900">
                <a:solidFill>
                  <a:srgbClr val="000000"/>
                </a:solidFill>
                <a:latin typeface="Nourd"/>
                <a:ea typeface="Nourd"/>
                <a:cs typeface="Nourd"/>
                <a:sym typeface="Nourd"/>
              </a:rPr>
              <a:t>Low-paying customers actually cost more → not always more profitable</a:t>
            </a:r>
          </a:p>
          <a:p>
            <a:pPr algn="l">
              <a:lnSpc>
                <a:spcPts val="2660"/>
              </a:lnSpc>
            </a:pPr>
          </a:p>
          <a:p>
            <a:pPr algn="l">
              <a:lnSpc>
                <a:spcPts val="2660"/>
              </a:lnSpc>
              <a:spcBef>
                <a:spcPct val="0"/>
              </a:spcBef>
            </a:pPr>
          </a:p>
        </p:txBody>
      </p:sp>
      <p:grpSp>
        <p:nvGrpSpPr>
          <p:cNvPr name="Group 10" id="10"/>
          <p:cNvGrpSpPr/>
          <p:nvPr/>
        </p:nvGrpSpPr>
        <p:grpSpPr>
          <a:xfrm rot="0">
            <a:off x="7076638" y="-12790471"/>
            <a:ext cx="14248811" cy="14248811"/>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grpSp>
        <p:nvGrpSpPr>
          <p:cNvPr name="Group 12" id="12"/>
          <p:cNvGrpSpPr/>
          <p:nvPr/>
        </p:nvGrpSpPr>
        <p:grpSpPr>
          <a:xfrm rot="0">
            <a:off x="6765554" y="8826956"/>
            <a:ext cx="14248811" cy="14248811"/>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52844" y="7442831"/>
            <a:ext cx="1437134" cy="1437134"/>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Freeform 4" id="4"/>
          <p:cNvSpPr/>
          <p:nvPr/>
        </p:nvSpPr>
        <p:spPr>
          <a:xfrm flipH="false" flipV="false" rot="0">
            <a:off x="8111003" y="7679926"/>
            <a:ext cx="920816" cy="962945"/>
          </a:xfrm>
          <a:custGeom>
            <a:avLst/>
            <a:gdLst/>
            <a:ahLst/>
            <a:cxnLst/>
            <a:rect r="r" b="b" t="t" l="l"/>
            <a:pathLst>
              <a:path h="962945" w="920816">
                <a:moveTo>
                  <a:pt x="0" y="0"/>
                </a:moveTo>
                <a:lnTo>
                  <a:pt x="920816" y="0"/>
                </a:lnTo>
                <a:lnTo>
                  <a:pt x="920816" y="962944"/>
                </a:lnTo>
                <a:lnTo>
                  <a:pt x="0" y="9629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7852844" y="5461635"/>
            <a:ext cx="1437134" cy="1437134"/>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Freeform 7" id="7"/>
          <p:cNvSpPr/>
          <p:nvPr/>
        </p:nvSpPr>
        <p:spPr>
          <a:xfrm flipH="false" flipV="false" rot="0">
            <a:off x="7932913" y="5557667"/>
            <a:ext cx="1276996" cy="1245071"/>
          </a:xfrm>
          <a:custGeom>
            <a:avLst/>
            <a:gdLst/>
            <a:ahLst/>
            <a:cxnLst/>
            <a:rect r="r" b="b" t="t" l="l"/>
            <a:pathLst>
              <a:path h="1245071" w="1276996">
                <a:moveTo>
                  <a:pt x="0" y="0"/>
                </a:moveTo>
                <a:lnTo>
                  <a:pt x="1276996" y="0"/>
                </a:lnTo>
                <a:lnTo>
                  <a:pt x="1276996" y="1245070"/>
                </a:lnTo>
                <a:lnTo>
                  <a:pt x="0" y="12450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7852844" y="3059016"/>
            <a:ext cx="1437134" cy="1437134"/>
            <a:chOff x="0" y="0"/>
            <a:chExt cx="1916179" cy="1916179"/>
          </a:xfrm>
        </p:grpSpPr>
        <p:grpSp>
          <p:nvGrpSpPr>
            <p:cNvPr name="Group 9" id="9"/>
            <p:cNvGrpSpPr/>
            <p:nvPr/>
          </p:nvGrpSpPr>
          <p:grpSpPr>
            <a:xfrm rot="0">
              <a:off x="0" y="0"/>
              <a:ext cx="1916179" cy="1916179"/>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Freeform 11" id="11"/>
            <p:cNvSpPr/>
            <p:nvPr/>
          </p:nvSpPr>
          <p:spPr>
            <a:xfrm flipH="false" flipV="false" rot="0">
              <a:off x="142388" y="142388"/>
              <a:ext cx="1631403" cy="1631403"/>
            </a:xfrm>
            <a:custGeom>
              <a:avLst/>
              <a:gdLst/>
              <a:ahLst/>
              <a:cxnLst/>
              <a:rect r="r" b="b" t="t" l="l"/>
              <a:pathLst>
                <a:path h="1631403" w="1631403">
                  <a:moveTo>
                    <a:pt x="0" y="0"/>
                  </a:moveTo>
                  <a:lnTo>
                    <a:pt x="1631403" y="0"/>
                  </a:lnTo>
                  <a:lnTo>
                    <a:pt x="1631403" y="1631403"/>
                  </a:lnTo>
                  <a:lnTo>
                    <a:pt x="0" y="16314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TextBox 12" id="12"/>
          <p:cNvSpPr txBox="true"/>
          <p:nvPr/>
        </p:nvSpPr>
        <p:spPr>
          <a:xfrm rot="0">
            <a:off x="7470766" y="1362296"/>
            <a:ext cx="11166391" cy="1287145"/>
          </a:xfrm>
          <a:prstGeom prst="rect">
            <a:avLst/>
          </a:prstGeom>
        </p:spPr>
        <p:txBody>
          <a:bodyPr anchor="t" rtlCol="false" tIns="0" lIns="0" bIns="0" rIns="0">
            <a:spAutoFit/>
          </a:bodyPr>
          <a:lstStyle/>
          <a:p>
            <a:pPr algn="l">
              <a:lnSpc>
                <a:spcPts val="5179"/>
              </a:lnSpc>
            </a:pPr>
            <a:r>
              <a:rPr lang="en-US" b="true" sz="3699">
                <a:solidFill>
                  <a:srgbClr val="000000"/>
                </a:solidFill>
                <a:latin typeface="Nourd Bold"/>
                <a:ea typeface="Nourd Bold"/>
                <a:cs typeface="Nourd Bold"/>
                <a:sym typeface="Nourd Bold"/>
              </a:rPr>
              <a:t>ACTIONABLE RECOMMENDATIONS FOR PRICING &amp; RETENTION</a:t>
            </a:r>
          </a:p>
        </p:txBody>
      </p:sp>
      <p:sp>
        <p:nvSpPr>
          <p:cNvPr name="TextBox 13" id="13"/>
          <p:cNvSpPr txBox="true"/>
          <p:nvPr/>
        </p:nvSpPr>
        <p:spPr>
          <a:xfrm rot="0">
            <a:off x="9484771" y="3326134"/>
            <a:ext cx="8442613" cy="2501261"/>
          </a:xfrm>
          <a:prstGeom prst="rect">
            <a:avLst/>
          </a:prstGeom>
        </p:spPr>
        <p:txBody>
          <a:bodyPr anchor="t" rtlCol="false" tIns="0" lIns="0" bIns="0" rIns="0">
            <a:spAutoFit/>
          </a:bodyPr>
          <a:lstStyle/>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 Charge higher premiums for new or low-tier customers with high predicted HALC</a:t>
            </a:r>
          </a:p>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Adjust pricing tiers using key drivers like contract duration and number of drivers</a:t>
            </a:r>
          </a:p>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Use HALC predictions to flag underpriced policies for review</a:t>
            </a:r>
          </a:p>
          <a:p>
            <a:pPr algn="l">
              <a:lnSpc>
                <a:spcPts val="3360"/>
              </a:lnSpc>
            </a:pPr>
          </a:p>
        </p:txBody>
      </p:sp>
      <p:sp>
        <p:nvSpPr>
          <p:cNvPr name="TextBox 14" id="14"/>
          <p:cNvSpPr txBox="true"/>
          <p:nvPr/>
        </p:nvSpPr>
        <p:spPr>
          <a:xfrm rot="0">
            <a:off x="9601693" y="3028950"/>
            <a:ext cx="3649693" cy="356235"/>
          </a:xfrm>
          <a:prstGeom prst="rect">
            <a:avLst/>
          </a:prstGeom>
        </p:spPr>
        <p:txBody>
          <a:bodyPr anchor="t" rtlCol="false" tIns="0" lIns="0" bIns="0" rIns="0">
            <a:spAutoFit/>
          </a:bodyPr>
          <a:lstStyle/>
          <a:p>
            <a:pPr algn="l">
              <a:lnSpc>
                <a:spcPts val="2940"/>
              </a:lnSpc>
            </a:pPr>
            <a:r>
              <a:rPr lang="en-US" b="true" sz="2100">
                <a:solidFill>
                  <a:srgbClr val="F15846"/>
                </a:solidFill>
                <a:latin typeface="Nourd Bold"/>
                <a:ea typeface="Nourd Bold"/>
                <a:cs typeface="Nourd Bold"/>
                <a:sym typeface="Nourd Bold"/>
              </a:rPr>
              <a:t>PRICING STRATEGY</a:t>
            </a:r>
          </a:p>
        </p:txBody>
      </p:sp>
      <p:sp>
        <p:nvSpPr>
          <p:cNvPr name="TextBox 15" id="15"/>
          <p:cNvSpPr txBox="true"/>
          <p:nvPr/>
        </p:nvSpPr>
        <p:spPr>
          <a:xfrm rot="0">
            <a:off x="9484771" y="5779770"/>
            <a:ext cx="8442613" cy="1663061"/>
          </a:xfrm>
          <a:prstGeom prst="rect">
            <a:avLst/>
          </a:prstGeom>
        </p:spPr>
        <p:txBody>
          <a:bodyPr anchor="t" rtlCol="false" tIns="0" lIns="0" bIns="0" rIns="0">
            <a:spAutoFit/>
          </a:bodyPr>
          <a:lstStyle/>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Inc</a:t>
            </a:r>
            <a:r>
              <a:rPr lang="en-US" sz="2400">
                <a:solidFill>
                  <a:srgbClr val="000000"/>
                </a:solidFill>
                <a:latin typeface="Source Sans Pro"/>
                <a:ea typeface="Source Sans Pro"/>
                <a:cs typeface="Source Sans Pro"/>
                <a:sym typeface="Source Sans Pro"/>
              </a:rPr>
              <a:t>entivize loyal, low-HALC customers (e.g., discounts, long-term benefits)</a:t>
            </a:r>
          </a:p>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Monitor medium-risk segments for churn risk and target with tailored offers</a:t>
            </a:r>
          </a:p>
        </p:txBody>
      </p:sp>
      <p:sp>
        <p:nvSpPr>
          <p:cNvPr name="TextBox 16" id="16"/>
          <p:cNvSpPr txBox="true"/>
          <p:nvPr/>
        </p:nvSpPr>
        <p:spPr>
          <a:xfrm rot="0">
            <a:off x="9484771" y="5423535"/>
            <a:ext cx="4814904" cy="356235"/>
          </a:xfrm>
          <a:prstGeom prst="rect">
            <a:avLst/>
          </a:prstGeom>
        </p:spPr>
        <p:txBody>
          <a:bodyPr anchor="t" rtlCol="false" tIns="0" lIns="0" bIns="0" rIns="0">
            <a:spAutoFit/>
          </a:bodyPr>
          <a:lstStyle/>
          <a:p>
            <a:pPr algn="l">
              <a:lnSpc>
                <a:spcPts val="2940"/>
              </a:lnSpc>
            </a:pPr>
            <a:r>
              <a:rPr lang="en-US" b="true" sz="2100">
                <a:solidFill>
                  <a:srgbClr val="F15846"/>
                </a:solidFill>
                <a:latin typeface="Nourd Bold"/>
                <a:ea typeface="Nourd Bold"/>
                <a:cs typeface="Nourd Bold"/>
                <a:sym typeface="Nourd Bold"/>
              </a:rPr>
              <a:t>RETENTION STRATEGY</a:t>
            </a:r>
          </a:p>
        </p:txBody>
      </p:sp>
      <p:sp>
        <p:nvSpPr>
          <p:cNvPr name="TextBox 17" id="17"/>
          <p:cNvSpPr txBox="true"/>
          <p:nvPr/>
        </p:nvSpPr>
        <p:spPr>
          <a:xfrm rot="0">
            <a:off x="9601693" y="7808591"/>
            <a:ext cx="8442613" cy="2082161"/>
          </a:xfrm>
          <a:prstGeom prst="rect">
            <a:avLst/>
          </a:prstGeom>
        </p:spPr>
        <p:txBody>
          <a:bodyPr anchor="t" rtlCol="false" tIns="0" lIns="0" bIns="0" rIns="0">
            <a:spAutoFit/>
          </a:bodyPr>
          <a:lstStyle/>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U</a:t>
            </a:r>
            <a:r>
              <a:rPr lang="en-US" sz="2400">
                <a:solidFill>
                  <a:srgbClr val="000000"/>
                </a:solidFill>
                <a:latin typeface="Source Sans Pro"/>
                <a:ea typeface="Source Sans Pro"/>
                <a:cs typeface="Source Sans Pro"/>
                <a:sym typeface="Source Sans Pro"/>
              </a:rPr>
              <a:t>se Claim Status predictions (CS) to identify high-risk policyholders</a:t>
            </a:r>
          </a:p>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Flag for manual underwriting or restricted coverage</a:t>
            </a:r>
          </a:p>
          <a:p>
            <a:pPr algn="l" marL="518196" indent="-259098" lvl="1">
              <a:lnSpc>
                <a:spcPts val="3360"/>
              </a:lnSpc>
              <a:buFont typeface="Arial"/>
              <a:buChar char="•"/>
            </a:pPr>
            <a:r>
              <a:rPr lang="en-US" sz="2400">
                <a:solidFill>
                  <a:srgbClr val="000000"/>
                </a:solidFill>
                <a:latin typeface="Source Sans Pro"/>
                <a:ea typeface="Source Sans Pro"/>
                <a:cs typeface="Source Sans Pro"/>
                <a:sym typeface="Source Sans Pro"/>
              </a:rPr>
              <a:t>Combine claim likelihood + HALC to build a comprehensive risk score</a:t>
            </a:r>
          </a:p>
        </p:txBody>
      </p:sp>
      <p:sp>
        <p:nvSpPr>
          <p:cNvPr name="TextBox 18" id="18"/>
          <p:cNvSpPr txBox="true"/>
          <p:nvPr/>
        </p:nvSpPr>
        <p:spPr>
          <a:xfrm rot="0">
            <a:off x="9601693" y="7452356"/>
            <a:ext cx="4814904" cy="356235"/>
          </a:xfrm>
          <a:prstGeom prst="rect">
            <a:avLst/>
          </a:prstGeom>
        </p:spPr>
        <p:txBody>
          <a:bodyPr anchor="t" rtlCol="false" tIns="0" lIns="0" bIns="0" rIns="0">
            <a:spAutoFit/>
          </a:bodyPr>
          <a:lstStyle/>
          <a:p>
            <a:pPr algn="l">
              <a:lnSpc>
                <a:spcPts val="2940"/>
              </a:lnSpc>
            </a:pPr>
            <a:r>
              <a:rPr lang="en-US" b="true" sz="2100">
                <a:solidFill>
                  <a:srgbClr val="F15846"/>
                </a:solidFill>
                <a:latin typeface="Nourd Bold"/>
                <a:ea typeface="Nourd Bold"/>
                <a:cs typeface="Nourd Bold"/>
                <a:sym typeface="Nourd Bold"/>
              </a:rPr>
              <a:t>RISK FLAGGING</a:t>
            </a:r>
          </a:p>
        </p:txBody>
      </p:sp>
      <p:grpSp>
        <p:nvGrpSpPr>
          <p:cNvPr name="Group 19" id="19"/>
          <p:cNvGrpSpPr/>
          <p:nvPr/>
        </p:nvGrpSpPr>
        <p:grpSpPr>
          <a:xfrm rot="0">
            <a:off x="-6927489" y="-1205174"/>
            <a:ext cx="14248811" cy="14248811"/>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Freeform 21" id="21"/>
          <p:cNvSpPr/>
          <p:nvPr/>
        </p:nvSpPr>
        <p:spPr>
          <a:xfrm flipH="false" flipV="false" rot="0">
            <a:off x="-756397" y="3008556"/>
            <a:ext cx="7791515" cy="5103442"/>
          </a:xfrm>
          <a:custGeom>
            <a:avLst/>
            <a:gdLst/>
            <a:ahLst/>
            <a:cxnLst/>
            <a:rect r="r" b="b" t="t" l="l"/>
            <a:pathLst>
              <a:path h="5103442" w="7791515">
                <a:moveTo>
                  <a:pt x="0" y="0"/>
                </a:moveTo>
                <a:lnTo>
                  <a:pt x="7791515" y="0"/>
                </a:lnTo>
                <a:lnTo>
                  <a:pt x="7791515" y="5103442"/>
                </a:lnTo>
                <a:lnTo>
                  <a:pt x="0" y="51034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5264" y="1771530"/>
            <a:ext cx="1958605" cy="1958605"/>
            <a:chOff x="0" y="0"/>
            <a:chExt cx="2611474" cy="2611474"/>
          </a:xfrm>
        </p:grpSpPr>
        <p:grpSp>
          <p:nvGrpSpPr>
            <p:cNvPr name="Group 3" id="3"/>
            <p:cNvGrpSpPr/>
            <p:nvPr/>
          </p:nvGrpSpPr>
          <p:grpSpPr>
            <a:xfrm rot="0">
              <a:off x="0" y="0"/>
              <a:ext cx="2611474" cy="2611474"/>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Freeform 5" id="5"/>
            <p:cNvSpPr/>
            <p:nvPr/>
          </p:nvSpPr>
          <p:spPr>
            <a:xfrm flipH="false" flipV="false" rot="0">
              <a:off x="483559" y="453602"/>
              <a:ext cx="1663504" cy="1663504"/>
            </a:xfrm>
            <a:custGeom>
              <a:avLst/>
              <a:gdLst/>
              <a:ahLst/>
              <a:cxnLst/>
              <a:rect r="r" b="b" t="t" l="l"/>
              <a:pathLst>
                <a:path h="1663504" w="1663504">
                  <a:moveTo>
                    <a:pt x="0" y="0"/>
                  </a:moveTo>
                  <a:lnTo>
                    <a:pt x="1663504" y="0"/>
                  </a:lnTo>
                  <a:lnTo>
                    <a:pt x="1663504" y="1663504"/>
                  </a:lnTo>
                  <a:lnTo>
                    <a:pt x="0" y="16635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6" id="6"/>
          <p:cNvSpPr txBox="true"/>
          <p:nvPr/>
        </p:nvSpPr>
        <p:spPr>
          <a:xfrm rot="0">
            <a:off x="640280" y="792083"/>
            <a:ext cx="8651379" cy="653415"/>
          </a:xfrm>
          <a:prstGeom prst="rect">
            <a:avLst/>
          </a:prstGeom>
        </p:spPr>
        <p:txBody>
          <a:bodyPr anchor="t" rtlCol="false" tIns="0" lIns="0" bIns="0" rIns="0">
            <a:spAutoFit/>
          </a:bodyPr>
          <a:lstStyle/>
          <a:p>
            <a:pPr algn="ctr">
              <a:lnSpc>
                <a:spcPts val="5459"/>
              </a:lnSpc>
            </a:pPr>
            <a:r>
              <a:rPr lang="en-US" sz="3900" b="true">
                <a:solidFill>
                  <a:srgbClr val="000000"/>
                </a:solidFill>
                <a:latin typeface="Nourd Bold"/>
                <a:ea typeface="Nourd Bold"/>
                <a:cs typeface="Nourd Bold"/>
                <a:sym typeface="Nourd Bold"/>
              </a:rPr>
              <a:t>K</a:t>
            </a:r>
            <a:r>
              <a:rPr lang="en-US" sz="3900" b="true">
                <a:solidFill>
                  <a:srgbClr val="000000"/>
                </a:solidFill>
                <a:latin typeface="Nourd Bold"/>
                <a:ea typeface="Nourd Bold"/>
                <a:cs typeface="Nourd Bold"/>
                <a:sym typeface="Nourd Bold"/>
              </a:rPr>
              <a:t>ey Takeaways &amp; Business Impact</a:t>
            </a:r>
          </a:p>
        </p:txBody>
      </p:sp>
      <p:sp>
        <p:nvSpPr>
          <p:cNvPr name="TextBox 7" id="7"/>
          <p:cNvSpPr txBox="true"/>
          <p:nvPr/>
        </p:nvSpPr>
        <p:spPr>
          <a:xfrm rot="0">
            <a:off x="197625" y="4279331"/>
            <a:ext cx="3491789" cy="20821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  Pre</a:t>
            </a:r>
            <a:r>
              <a:rPr lang="en-US" sz="2400">
                <a:solidFill>
                  <a:srgbClr val="000000"/>
                </a:solidFill>
                <a:latin typeface="Source Sans Pro"/>
                <a:ea typeface="Source Sans Pro"/>
                <a:cs typeface="Source Sans Pro"/>
                <a:sym typeface="Source Sans Pro"/>
              </a:rPr>
              <a:t>dicted Loss Cost (LC and HALC)</a:t>
            </a:r>
          </a:p>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Predicted Claim Status (CS)</a:t>
            </a:r>
          </a:p>
          <a:p>
            <a:pPr algn="l">
              <a:lnSpc>
                <a:spcPts val="3359"/>
              </a:lnSpc>
            </a:pPr>
          </a:p>
        </p:txBody>
      </p:sp>
      <p:sp>
        <p:nvSpPr>
          <p:cNvPr name="TextBox 8" id="8"/>
          <p:cNvSpPr txBox="true"/>
          <p:nvPr/>
        </p:nvSpPr>
        <p:spPr>
          <a:xfrm rot="0">
            <a:off x="197625" y="3930716"/>
            <a:ext cx="3328243" cy="396240"/>
          </a:xfrm>
          <a:prstGeom prst="rect">
            <a:avLst/>
          </a:prstGeom>
        </p:spPr>
        <p:txBody>
          <a:bodyPr anchor="t" rtlCol="false" tIns="0" lIns="0" bIns="0" rIns="0">
            <a:spAutoFit/>
          </a:bodyPr>
          <a:lstStyle/>
          <a:p>
            <a:pPr algn="ctr">
              <a:lnSpc>
                <a:spcPts val="3359"/>
              </a:lnSpc>
            </a:pPr>
            <a:r>
              <a:rPr lang="en-US" sz="2400" b="true">
                <a:solidFill>
                  <a:srgbClr val="F15846"/>
                </a:solidFill>
                <a:latin typeface="Canva Sans Bold"/>
                <a:ea typeface="Canva Sans Bold"/>
                <a:cs typeface="Canva Sans Bold"/>
                <a:sym typeface="Canva Sans Bold"/>
              </a:rPr>
              <a:t>PREDICTIVE OUTPUTS</a:t>
            </a:r>
          </a:p>
        </p:txBody>
      </p:sp>
      <p:grpSp>
        <p:nvGrpSpPr>
          <p:cNvPr name="Group 9" id="9"/>
          <p:cNvGrpSpPr/>
          <p:nvPr/>
        </p:nvGrpSpPr>
        <p:grpSpPr>
          <a:xfrm rot="0">
            <a:off x="3720649" y="3437863"/>
            <a:ext cx="3748980" cy="5847266"/>
            <a:chOff x="0" y="0"/>
            <a:chExt cx="4998641" cy="7796355"/>
          </a:xfrm>
        </p:grpSpPr>
        <p:sp>
          <p:nvSpPr>
            <p:cNvPr name="TextBox 10" id="10"/>
            <p:cNvSpPr txBox="true"/>
            <p:nvPr/>
          </p:nvSpPr>
          <p:spPr>
            <a:xfrm rot="0">
              <a:off x="0" y="3359610"/>
              <a:ext cx="4998641" cy="443674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Aligne</a:t>
              </a:r>
              <a:r>
                <a:rPr lang="en-US" sz="2400">
                  <a:solidFill>
                    <a:srgbClr val="000000"/>
                  </a:solidFill>
                  <a:latin typeface="Source Sans Pro"/>
                  <a:ea typeface="Source Sans Pro"/>
                  <a:cs typeface="Source Sans Pro"/>
                  <a:sym typeface="Source Sans Pro"/>
                </a:rPr>
                <a:t>d pricing with individual risk</a:t>
              </a:r>
            </a:p>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Flagged high-risk policies for manual review</a:t>
              </a:r>
            </a:p>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Identified high-value segments for retention</a:t>
              </a:r>
            </a:p>
            <a:p>
              <a:pPr algn="l">
                <a:lnSpc>
                  <a:spcPts val="3359"/>
                </a:lnSpc>
              </a:pPr>
            </a:p>
            <a:p>
              <a:pPr algn="l">
                <a:lnSpc>
                  <a:spcPts val="3359"/>
                </a:lnSpc>
              </a:pPr>
            </a:p>
          </p:txBody>
        </p:sp>
        <p:sp>
          <p:nvSpPr>
            <p:cNvPr name="TextBox 11" id="11"/>
            <p:cNvSpPr txBox="true"/>
            <p:nvPr/>
          </p:nvSpPr>
          <p:spPr>
            <a:xfrm rot="0">
              <a:off x="0" y="2891615"/>
              <a:ext cx="4998641" cy="515620"/>
            </a:xfrm>
            <a:prstGeom prst="rect">
              <a:avLst/>
            </a:prstGeom>
          </p:spPr>
          <p:txBody>
            <a:bodyPr anchor="t" rtlCol="false" tIns="0" lIns="0" bIns="0" rIns="0">
              <a:spAutoFit/>
            </a:bodyPr>
            <a:lstStyle/>
            <a:p>
              <a:pPr algn="ctr">
                <a:lnSpc>
                  <a:spcPts val="3359"/>
                </a:lnSpc>
              </a:pPr>
              <a:r>
                <a:rPr lang="en-US" sz="2400" b="true">
                  <a:solidFill>
                    <a:srgbClr val="F15846"/>
                  </a:solidFill>
                  <a:latin typeface="Canva Sans Bold"/>
                  <a:ea typeface="Canva Sans Bold"/>
                  <a:cs typeface="Canva Sans Bold"/>
                  <a:sym typeface="Canva Sans Bold"/>
                </a:rPr>
                <a:t>STATEGIC APPLICATIONS</a:t>
              </a:r>
            </a:p>
          </p:txBody>
        </p:sp>
        <p:grpSp>
          <p:nvGrpSpPr>
            <p:cNvPr name="Group 12" id="12"/>
            <p:cNvGrpSpPr/>
            <p:nvPr/>
          </p:nvGrpSpPr>
          <p:grpSpPr>
            <a:xfrm rot="0">
              <a:off x="1341545" y="0"/>
              <a:ext cx="2611474" cy="2611474"/>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Freeform 14" id="14"/>
            <p:cNvSpPr/>
            <p:nvPr/>
          </p:nvSpPr>
          <p:spPr>
            <a:xfrm flipH="false" flipV="false" rot="0">
              <a:off x="1682554" y="141783"/>
              <a:ext cx="1929456" cy="2091551"/>
            </a:xfrm>
            <a:custGeom>
              <a:avLst/>
              <a:gdLst/>
              <a:ahLst/>
              <a:cxnLst/>
              <a:rect r="r" b="b" t="t" l="l"/>
              <a:pathLst>
                <a:path h="2091551" w="1929456">
                  <a:moveTo>
                    <a:pt x="0" y="0"/>
                  </a:moveTo>
                  <a:lnTo>
                    <a:pt x="1929456" y="0"/>
                  </a:lnTo>
                  <a:lnTo>
                    <a:pt x="1929456" y="2091551"/>
                  </a:lnTo>
                  <a:lnTo>
                    <a:pt x="0" y="20915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5" id="15"/>
          <p:cNvGrpSpPr/>
          <p:nvPr/>
        </p:nvGrpSpPr>
        <p:grpSpPr>
          <a:xfrm rot="0">
            <a:off x="10387034" y="-1164788"/>
            <a:ext cx="14248811" cy="14248811"/>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Freeform 17" id="17"/>
          <p:cNvSpPr/>
          <p:nvPr/>
        </p:nvSpPr>
        <p:spPr>
          <a:xfrm flipH="false" flipV="false" rot="0">
            <a:off x="11865615" y="2735232"/>
            <a:ext cx="7363593" cy="5283378"/>
          </a:xfrm>
          <a:custGeom>
            <a:avLst/>
            <a:gdLst/>
            <a:ahLst/>
            <a:cxnLst/>
            <a:rect r="r" b="b" t="t" l="l"/>
            <a:pathLst>
              <a:path h="5283378" w="7363593">
                <a:moveTo>
                  <a:pt x="0" y="0"/>
                </a:moveTo>
                <a:lnTo>
                  <a:pt x="7363593" y="0"/>
                </a:lnTo>
                <a:lnTo>
                  <a:pt x="7363593" y="5283378"/>
                </a:lnTo>
                <a:lnTo>
                  <a:pt x="0" y="52833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8" id="18"/>
          <p:cNvGrpSpPr/>
          <p:nvPr/>
        </p:nvGrpSpPr>
        <p:grpSpPr>
          <a:xfrm rot="0">
            <a:off x="7469629" y="6361496"/>
            <a:ext cx="3348742" cy="3745382"/>
            <a:chOff x="0" y="0"/>
            <a:chExt cx="4464989" cy="4993843"/>
          </a:xfrm>
        </p:grpSpPr>
        <p:grpSp>
          <p:nvGrpSpPr>
            <p:cNvPr name="Group 19" id="19"/>
            <p:cNvGrpSpPr/>
            <p:nvPr/>
          </p:nvGrpSpPr>
          <p:grpSpPr>
            <a:xfrm rot="0">
              <a:off x="708697" y="0"/>
              <a:ext cx="2611474" cy="2611474"/>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Freeform 21" id="21"/>
            <p:cNvSpPr/>
            <p:nvPr/>
          </p:nvSpPr>
          <p:spPr>
            <a:xfrm flipH="false" flipV="false" rot="0">
              <a:off x="1135907" y="400387"/>
              <a:ext cx="1757054" cy="1691164"/>
            </a:xfrm>
            <a:custGeom>
              <a:avLst/>
              <a:gdLst/>
              <a:ahLst/>
              <a:cxnLst/>
              <a:rect r="r" b="b" t="t" l="l"/>
              <a:pathLst>
                <a:path h="1691164" w="1757054">
                  <a:moveTo>
                    <a:pt x="0" y="0"/>
                  </a:moveTo>
                  <a:lnTo>
                    <a:pt x="1757054" y="0"/>
                  </a:lnTo>
                  <a:lnTo>
                    <a:pt x="1757054" y="1691164"/>
                  </a:lnTo>
                  <a:lnTo>
                    <a:pt x="0" y="169116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2" id="22"/>
            <p:cNvSpPr txBox="true"/>
            <p:nvPr/>
          </p:nvSpPr>
          <p:spPr>
            <a:xfrm rot="0">
              <a:off x="0" y="3351098"/>
              <a:ext cx="4464989" cy="164274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Source Sans Pro"/>
                  <a:ea typeface="Source Sans Pro"/>
                  <a:cs typeface="Source Sans Pro"/>
                  <a:sym typeface="Source Sans Pro"/>
                </a:rPr>
                <a:t>  Suppor</a:t>
              </a:r>
              <a:r>
                <a:rPr lang="en-US" sz="2400">
                  <a:solidFill>
                    <a:srgbClr val="000000"/>
                  </a:solidFill>
                  <a:latin typeface="Source Sans Pro"/>
                  <a:ea typeface="Source Sans Pro"/>
                  <a:cs typeface="Source Sans Pro"/>
                  <a:sym typeface="Source Sans Pro"/>
                </a:rPr>
                <a:t>ts more ta</a:t>
              </a:r>
              <a:r>
                <a:rPr lang="en-US" sz="2400">
                  <a:solidFill>
                    <a:srgbClr val="000000"/>
                  </a:solidFill>
                  <a:latin typeface="Source Sans Pro"/>
                  <a:ea typeface="Source Sans Pro"/>
                  <a:cs typeface="Source Sans Pro"/>
                  <a:sym typeface="Source Sans Pro"/>
                </a:rPr>
                <a:t>rgeted, data-driven portfolio decisions</a:t>
              </a:r>
            </a:p>
          </p:txBody>
        </p:sp>
        <p:sp>
          <p:nvSpPr>
            <p:cNvPr name="TextBox 23" id="23"/>
            <p:cNvSpPr txBox="true"/>
            <p:nvPr/>
          </p:nvSpPr>
          <p:spPr>
            <a:xfrm rot="0">
              <a:off x="250302" y="2883103"/>
              <a:ext cx="3462338" cy="515620"/>
            </a:xfrm>
            <a:prstGeom prst="rect">
              <a:avLst/>
            </a:prstGeom>
          </p:spPr>
          <p:txBody>
            <a:bodyPr anchor="t" rtlCol="false" tIns="0" lIns="0" bIns="0" rIns="0">
              <a:spAutoFit/>
            </a:bodyPr>
            <a:lstStyle/>
            <a:p>
              <a:pPr algn="ctr">
                <a:lnSpc>
                  <a:spcPts val="3359"/>
                </a:lnSpc>
              </a:pPr>
              <a:r>
                <a:rPr lang="en-US" sz="2400" b="true">
                  <a:solidFill>
                    <a:srgbClr val="F15846"/>
                  </a:solidFill>
                  <a:latin typeface="Canva Sans Bold"/>
                  <a:ea typeface="Canva Sans Bold"/>
                  <a:cs typeface="Canva Sans Bold"/>
                  <a:sym typeface="Canva Sans Bold"/>
                </a:rPr>
                <a:t>BUSINESS VALUE</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82983" y="-1352703"/>
            <a:ext cx="12319780" cy="12319780"/>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5846"/>
            </a:solidFill>
          </p:spPr>
        </p:sp>
      </p:grpSp>
      <p:sp>
        <p:nvSpPr>
          <p:cNvPr name="TextBox 4" id="4"/>
          <p:cNvSpPr txBox="true"/>
          <p:nvPr/>
        </p:nvSpPr>
        <p:spPr>
          <a:xfrm rot="0">
            <a:off x="1238763" y="3958679"/>
            <a:ext cx="6945746" cy="2245816"/>
          </a:xfrm>
          <a:prstGeom prst="rect">
            <a:avLst/>
          </a:prstGeom>
        </p:spPr>
        <p:txBody>
          <a:bodyPr anchor="t" rtlCol="false" tIns="0" lIns="0" bIns="0" rIns="0">
            <a:spAutoFit/>
          </a:bodyPr>
          <a:lstStyle/>
          <a:p>
            <a:pPr algn="l">
              <a:lnSpc>
                <a:spcPts val="9039"/>
              </a:lnSpc>
            </a:pPr>
            <a:r>
              <a:rPr lang="en-US" sz="6457" b="true">
                <a:solidFill>
                  <a:srgbClr val="FFFFFF"/>
                </a:solidFill>
                <a:latin typeface="Nourd Bold"/>
                <a:ea typeface="Nourd Bold"/>
                <a:cs typeface="Nourd Bold"/>
                <a:sym typeface="Nourd Bold"/>
              </a:rPr>
              <a:t>THANKS FOR</a:t>
            </a:r>
          </a:p>
          <a:p>
            <a:pPr algn="l">
              <a:lnSpc>
                <a:spcPts val="9039"/>
              </a:lnSpc>
            </a:pPr>
            <a:r>
              <a:rPr lang="en-US" b="true" sz="6457">
                <a:solidFill>
                  <a:srgbClr val="FFFFFF"/>
                </a:solidFill>
                <a:latin typeface="Nourd Bold"/>
                <a:ea typeface="Nourd Bold"/>
                <a:cs typeface="Nourd Bold"/>
                <a:sym typeface="Nourd Bold"/>
              </a:rPr>
              <a:t>WATCHING!</a:t>
            </a:r>
          </a:p>
        </p:txBody>
      </p:sp>
      <p:sp>
        <p:nvSpPr>
          <p:cNvPr name="TextBox 5" id="5"/>
          <p:cNvSpPr txBox="true"/>
          <p:nvPr/>
        </p:nvSpPr>
        <p:spPr>
          <a:xfrm rot="0">
            <a:off x="1238763" y="8488681"/>
            <a:ext cx="5611194" cy="1740502"/>
          </a:xfrm>
          <a:prstGeom prst="rect">
            <a:avLst/>
          </a:prstGeom>
        </p:spPr>
        <p:txBody>
          <a:bodyPr anchor="t" rtlCol="false" tIns="0" lIns="0" bIns="0" rIns="0">
            <a:spAutoFit/>
          </a:bodyPr>
          <a:lstStyle/>
          <a:p>
            <a:pPr algn="l">
              <a:lnSpc>
                <a:spcPts val="2311"/>
              </a:lnSpc>
            </a:pPr>
            <a:r>
              <a:rPr lang="en-US" sz="1650" b="true">
                <a:solidFill>
                  <a:srgbClr val="FFFFFF"/>
                </a:solidFill>
                <a:latin typeface="Nourd Bold"/>
                <a:ea typeface="Nourd Bold"/>
                <a:cs typeface="Nourd Bold"/>
                <a:sym typeface="Nourd Bold"/>
              </a:rPr>
              <a:t>BAHREMAND, JASMINE</a:t>
            </a:r>
          </a:p>
          <a:p>
            <a:pPr algn="l">
              <a:lnSpc>
                <a:spcPts val="2311"/>
              </a:lnSpc>
            </a:pPr>
            <a:r>
              <a:rPr lang="en-US" sz="1650" b="true">
                <a:solidFill>
                  <a:srgbClr val="FFFFFF"/>
                </a:solidFill>
                <a:latin typeface="Nourd Bold"/>
                <a:ea typeface="Nourd Bold"/>
                <a:cs typeface="Nourd Bold"/>
                <a:sym typeface="Nourd Bold"/>
              </a:rPr>
              <a:t>LEE, HANNAH</a:t>
            </a:r>
          </a:p>
          <a:p>
            <a:pPr algn="l">
              <a:lnSpc>
                <a:spcPts val="2311"/>
              </a:lnSpc>
            </a:pPr>
            <a:r>
              <a:rPr lang="en-US" sz="1650" b="true">
                <a:solidFill>
                  <a:srgbClr val="FFFFFF"/>
                </a:solidFill>
                <a:latin typeface="Nourd Bold"/>
                <a:ea typeface="Nourd Bold"/>
                <a:cs typeface="Nourd Bold"/>
                <a:sym typeface="Nourd Bold"/>
              </a:rPr>
              <a:t>WU, ALAN</a:t>
            </a:r>
          </a:p>
          <a:p>
            <a:pPr algn="l">
              <a:lnSpc>
                <a:spcPts val="2311"/>
              </a:lnSpc>
            </a:pPr>
            <a:r>
              <a:rPr lang="en-US" sz="1650" b="true">
                <a:solidFill>
                  <a:srgbClr val="FFFFFF"/>
                </a:solidFill>
                <a:latin typeface="Nourd Bold"/>
                <a:ea typeface="Nourd Bold"/>
                <a:cs typeface="Nourd Bold"/>
                <a:sym typeface="Nourd Bold"/>
              </a:rPr>
              <a:t>FAN, TIANJUN,</a:t>
            </a:r>
          </a:p>
          <a:p>
            <a:pPr algn="l">
              <a:lnSpc>
                <a:spcPts val="2311"/>
              </a:lnSpc>
            </a:pPr>
            <a:r>
              <a:rPr lang="en-US" sz="1650" b="true">
                <a:solidFill>
                  <a:srgbClr val="FFFFFF"/>
                </a:solidFill>
                <a:latin typeface="Nourd Bold"/>
                <a:ea typeface="Nourd Bold"/>
                <a:cs typeface="Nourd Bold"/>
                <a:sym typeface="Nourd Bold"/>
              </a:rPr>
              <a:t>MCNEW, NICHOLAS</a:t>
            </a:r>
          </a:p>
          <a:p>
            <a:pPr algn="l">
              <a:lnSpc>
                <a:spcPts val="2311"/>
              </a:lnSpc>
            </a:pPr>
          </a:p>
        </p:txBody>
      </p:sp>
      <p:sp>
        <p:nvSpPr>
          <p:cNvPr name="TextBox 6" id="6"/>
          <p:cNvSpPr txBox="true"/>
          <p:nvPr/>
        </p:nvSpPr>
        <p:spPr>
          <a:xfrm rot="0">
            <a:off x="1899606" y="1569993"/>
            <a:ext cx="3892666" cy="727710"/>
          </a:xfrm>
          <a:prstGeom prst="rect">
            <a:avLst/>
          </a:prstGeom>
        </p:spPr>
        <p:txBody>
          <a:bodyPr anchor="t" rtlCol="false" tIns="0" lIns="0" bIns="0" rIns="0">
            <a:spAutoFit/>
          </a:bodyPr>
          <a:lstStyle/>
          <a:p>
            <a:pPr algn="l">
              <a:lnSpc>
                <a:spcPts val="2940"/>
              </a:lnSpc>
            </a:pPr>
            <a:r>
              <a:rPr lang="en-US" sz="2100" b="true">
                <a:solidFill>
                  <a:srgbClr val="FFFFFF"/>
                </a:solidFill>
                <a:latin typeface="Nourd Bold"/>
                <a:ea typeface="Nourd Bold"/>
                <a:cs typeface="Nourd Bold"/>
                <a:sym typeface="Nourd Bold"/>
              </a:rPr>
              <a:t>TEAM #45</a:t>
            </a:r>
          </a:p>
          <a:p>
            <a:pPr algn="l">
              <a:lnSpc>
                <a:spcPts val="2940"/>
              </a:lnSpc>
            </a:pPr>
          </a:p>
        </p:txBody>
      </p:sp>
      <p:grpSp>
        <p:nvGrpSpPr>
          <p:cNvPr name="Group 7" id="7"/>
          <p:cNvGrpSpPr/>
          <p:nvPr/>
        </p:nvGrpSpPr>
        <p:grpSpPr>
          <a:xfrm rot="0">
            <a:off x="8736797" y="788735"/>
            <a:ext cx="9318793" cy="8278142"/>
            <a:chOff x="0" y="0"/>
            <a:chExt cx="12425057" cy="11037522"/>
          </a:xfrm>
        </p:grpSpPr>
        <p:sp>
          <p:nvSpPr>
            <p:cNvPr name="Freeform 8" id="8"/>
            <p:cNvSpPr/>
            <p:nvPr/>
          </p:nvSpPr>
          <p:spPr>
            <a:xfrm flipH="false" flipV="false" rot="0">
              <a:off x="0" y="797241"/>
              <a:ext cx="11719921" cy="10240281"/>
            </a:xfrm>
            <a:custGeom>
              <a:avLst/>
              <a:gdLst/>
              <a:ahLst/>
              <a:cxnLst/>
              <a:rect r="r" b="b" t="t" l="l"/>
              <a:pathLst>
                <a:path h="10240281" w="11719921">
                  <a:moveTo>
                    <a:pt x="0" y="0"/>
                  </a:moveTo>
                  <a:lnTo>
                    <a:pt x="11719921" y="0"/>
                  </a:lnTo>
                  <a:lnTo>
                    <a:pt x="11719921" y="10240281"/>
                  </a:lnTo>
                  <a:lnTo>
                    <a:pt x="0" y="102402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8682981" y="207983"/>
              <a:ext cx="3036940" cy="3036940"/>
            </a:xfrm>
            <a:custGeom>
              <a:avLst/>
              <a:gdLst/>
              <a:ahLst/>
              <a:cxnLst/>
              <a:rect r="r" b="b" t="t" l="l"/>
              <a:pathLst>
                <a:path h="3036940" w="3036940">
                  <a:moveTo>
                    <a:pt x="0" y="0"/>
                  </a:moveTo>
                  <a:lnTo>
                    <a:pt x="3036940" y="0"/>
                  </a:lnTo>
                  <a:lnTo>
                    <a:pt x="3036940" y="3036940"/>
                  </a:lnTo>
                  <a:lnTo>
                    <a:pt x="0" y="30369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8727039" y="0"/>
              <a:ext cx="2948824" cy="3244923"/>
            </a:xfrm>
            <a:custGeom>
              <a:avLst/>
              <a:gdLst/>
              <a:ahLst/>
              <a:cxnLst/>
              <a:rect r="r" b="b" t="t" l="l"/>
              <a:pathLst>
                <a:path h="3244923" w="2948824">
                  <a:moveTo>
                    <a:pt x="0" y="0"/>
                  </a:moveTo>
                  <a:lnTo>
                    <a:pt x="2948824" y="0"/>
                  </a:lnTo>
                  <a:lnTo>
                    <a:pt x="2948824" y="3244923"/>
                  </a:lnTo>
                  <a:lnTo>
                    <a:pt x="0" y="32449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0201451" y="7521939"/>
              <a:ext cx="2223606" cy="3515583"/>
            </a:xfrm>
            <a:custGeom>
              <a:avLst/>
              <a:gdLst/>
              <a:ahLst/>
              <a:cxnLst/>
              <a:rect r="r" b="b" t="t" l="l"/>
              <a:pathLst>
                <a:path h="3515583" w="2223606">
                  <a:moveTo>
                    <a:pt x="0" y="0"/>
                  </a:moveTo>
                  <a:lnTo>
                    <a:pt x="2223606" y="0"/>
                  </a:lnTo>
                  <a:lnTo>
                    <a:pt x="2223606" y="3515583"/>
                  </a:lnTo>
                  <a:lnTo>
                    <a:pt x="0" y="3515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12" id="12"/>
          <p:cNvSpPr/>
          <p:nvPr/>
        </p:nvSpPr>
        <p:spPr>
          <a:xfrm flipH="false" flipV="false" rot="0">
            <a:off x="1238763" y="1541557"/>
            <a:ext cx="491212" cy="491212"/>
          </a:xfrm>
          <a:custGeom>
            <a:avLst/>
            <a:gdLst/>
            <a:ahLst/>
            <a:cxnLst/>
            <a:rect r="r" b="b" t="t" l="l"/>
            <a:pathLst>
              <a:path h="491212" w="491212">
                <a:moveTo>
                  <a:pt x="0" y="0"/>
                </a:moveTo>
                <a:lnTo>
                  <a:pt x="491212" y="0"/>
                </a:lnTo>
                <a:lnTo>
                  <a:pt x="491212" y="491212"/>
                </a:lnTo>
                <a:lnTo>
                  <a:pt x="0" y="49121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DAGlS3Upc9A</dc:identifier>
  <dcterms:modified xsi:type="dcterms:W3CDTF">2011-08-01T06:04:30Z</dcterms:modified>
  <cp:revision>1</cp:revision>
  <dc:title>DSO 530 Final Project Slide Deck</dc:title>
</cp:coreProperties>
</file>